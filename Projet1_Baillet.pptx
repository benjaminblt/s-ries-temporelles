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Robo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bold.fntdata"/><Relationship Id="rId12" Type="http://schemas.openxmlformats.org/officeDocument/2006/relationships/slide" Target="slides/slide7.xml"/><Relationship Id="rId34" Type="http://schemas.openxmlformats.org/officeDocument/2006/relationships/font" Target="fonts/Roboto-regular.fntdata"/><Relationship Id="rId15" Type="http://schemas.openxmlformats.org/officeDocument/2006/relationships/slide" Target="slides/slide10.xml"/><Relationship Id="rId37" Type="http://schemas.openxmlformats.org/officeDocument/2006/relationships/font" Target="fonts/Roboto-boldItalic.fntdata"/><Relationship Id="rId14" Type="http://schemas.openxmlformats.org/officeDocument/2006/relationships/slide" Target="slides/slide9.xml"/><Relationship Id="rId36" Type="http://schemas.openxmlformats.org/officeDocument/2006/relationships/font" Target="fonts/Robot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b3d62c10a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b3d62c10a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b3d62c10a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b3d62c10a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b3d62c10a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b3d62c10a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b3d62c10a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b3d62c10a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b3d62c10a1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b3d62c10a1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b3d62c10a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b3d62c10a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b4b6d641ef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b4b6d641ef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b4b6d641ef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b4b6d641ef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b4b6d641ef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b4b6d641ef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b4b6d641ef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b4b6d641ef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b4b6d641ef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b4b6d641ef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b4b6d641ef_2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b4b6d641ef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68b4bbe4a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68b4bbe4a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b4b6d641ef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b4b6d641ef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68b4bbe4a4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68b4bbe4a4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68b4bbe4a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68b4bbe4a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bef48de1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bef48de1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68b4bbe4a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68b4bbe4a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68b4bbe4a4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68b4bbe4a4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68b4bbe4a4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68b4bbe4a4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bef48de1c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bef48de1c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68b4bbe4a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68b4bbe4a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f2b8d0201a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f2b8d0201a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f2b8d0201a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f2b8d0201a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f2b8d0201a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f2b8d0201a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f2b8d0201a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f2b8d0201a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f2b8d0201a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f2b8d0201a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7.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16.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19.png"/><Relationship Id="rId5" Type="http://schemas.openxmlformats.org/officeDocument/2006/relationships/image" Target="../media/image4.png"/><Relationship Id="rId6"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20.png"/><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20.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20.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27.png"/><Relationship Id="rId5"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13.png"/><Relationship Id="rId5"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5.png"/><Relationship Id="rId5"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21.png"/><Relationship Id="rId6"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jpg"/><Relationship Id="rId4" Type="http://schemas.openxmlformats.org/officeDocument/2006/relationships/image" Target="../media/image8.png"/><Relationship Id="rId5"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493325" y="2019025"/>
            <a:ext cx="8176500" cy="74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 name="Google Shape;55;p13"/>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56" name="Google Shape;56;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fr" sz="2100">
                <a:solidFill>
                  <a:srgbClr val="FF0000"/>
                </a:solidFill>
              </a:rPr>
              <a:t>Projet 1: Tests de racines unitaires et production de pétrole en </a:t>
            </a:r>
            <a:r>
              <a:rPr b="1" lang="fr" sz="2100">
                <a:solidFill>
                  <a:srgbClr val="FF0000"/>
                </a:solidFill>
              </a:rPr>
              <a:t>Thaïlande</a:t>
            </a:r>
            <a:r>
              <a:rPr b="1" lang="fr" sz="2100">
                <a:solidFill>
                  <a:srgbClr val="FF0000"/>
                </a:solidFill>
              </a:rPr>
              <a:t> de 1971 à 2021</a:t>
            </a:r>
            <a:endParaRPr b="1" sz="2100">
              <a:solidFill>
                <a:srgbClr val="FF0000"/>
              </a:solidFill>
            </a:endParaRPr>
          </a:p>
        </p:txBody>
      </p:sp>
      <p:sp>
        <p:nvSpPr>
          <p:cNvPr id="57" name="Google Shape;57;p13"/>
          <p:cNvSpPr txBox="1"/>
          <p:nvPr>
            <p:ph idx="1" type="subTitle"/>
          </p:nvPr>
        </p:nvSpPr>
        <p:spPr>
          <a:xfrm>
            <a:off x="0" y="4277625"/>
            <a:ext cx="31794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800"/>
              <a:t>BAILLET Benjamin</a:t>
            </a:r>
            <a:endParaRPr sz="1800"/>
          </a:p>
          <a:p>
            <a:pPr indent="0" lvl="0" marL="0" rtl="0" algn="l">
              <a:spcBef>
                <a:spcPts val="0"/>
              </a:spcBef>
              <a:spcAft>
                <a:spcPts val="0"/>
              </a:spcAft>
              <a:buNone/>
            </a:pPr>
            <a:r>
              <a:rPr lang="fr" sz="1800"/>
              <a:t>IREF-FQA</a:t>
            </a:r>
            <a:endParaRPr sz="1800"/>
          </a:p>
        </p:txBody>
      </p:sp>
      <p:sp>
        <p:nvSpPr>
          <p:cNvPr id="58" name="Google Shape;58;p13"/>
          <p:cNvSpPr txBox="1"/>
          <p:nvPr/>
        </p:nvSpPr>
        <p:spPr>
          <a:xfrm>
            <a:off x="4631900" y="4403500"/>
            <a:ext cx="3316200" cy="46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59" name="Google Shape;59;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4"/>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65" name="Google Shape;65;p14"/>
          <p:cNvSpPr txBox="1"/>
          <p:nvPr>
            <p:ph type="ctrTitle"/>
          </p:nvPr>
        </p:nvSpPr>
        <p:spPr>
          <a:xfrm>
            <a:off x="25" y="450"/>
            <a:ext cx="9144000" cy="622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fr" sz="2200">
                <a:solidFill>
                  <a:srgbClr val="FF0000"/>
                </a:solidFill>
                <a:latin typeface="Roboto"/>
                <a:ea typeface="Roboto"/>
                <a:cs typeface="Roboto"/>
                <a:sym typeface="Roboto"/>
              </a:rPr>
              <a:t>SOMMAIRE</a:t>
            </a:r>
            <a:endParaRPr b="1" sz="2200">
              <a:solidFill>
                <a:srgbClr val="FF0000"/>
              </a:solidFill>
            </a:endParaRPr>
          </a:p>
        </p:txBody>
      </p:sp>
      <p:sp>
        <p:nvSpPr>
          <p:cNvPr id="66" name="Google Shape;66;p14"/>
          <p:cNvSpPr txBox="1"/>
          <p:nvPr/>
        </p:nvSpPr>
        <p:spPr>
          <a:xfrm>
            <a:off x="190200" y="550700"/>
            <a:ext cx="8953800" cy="45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100">
                <a:solidFill>
                  <a:schemeClr val="dk1"/>
                </a:solidFill>
              </a:rPr>
              <a:t>INTRODUCTION</a:t>
            </a:r>
            <a:endParaRPr b="1"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arenR"/>
            </a:pPr>
            <a:r>
              <a:rPr b="1" lang="fr" sz="1100">
                <a:solidFill>
                  <a:schemeClr val="dk1"/>
                </a:solidFill>
              </a:rPr>
              <a:t>Graphiques</a:t>
            </a:r>
            <a:endParaRPr b="1" sz="1100">
              <a:solidFill>
                <a:schemeClr val="dk1"/>
              </a:solidFill>
            </a:endParaRPr>
          </a:p>
          <a:p>
            <a:pPr indent="0" lvl="0" marL="457200" rtl="0" algn="l">
              <a:spcBef>
                <a:spcPts val="0"/>
              </a:spcBef>
              <a:spcAft>
                <a:spcPts val="0"/>
              </a:spcAft>
              <a:buNone/>
            </a:pPr>
            <a:r>
              <a:rPr lang="fr" sz="1100">
                <a:solidFill>
                  <a:schemeClr val="dk1"/>
                </a:solidFill>
              </a:rPr>
              <a:t>	A) Chronogramme</a:t>
            </a:r>
            <a:endParaRPr sz="1100">
              <a:solidFill>
                <a:schemeClr val="dk1"/>
              </a:solidFill>
            </a:endParaRPr>
          </a:p>
          <a:p>
            <a:pPr indent="0" lvl="0" marL="457200" rtl="0" algn="l">
              <a:spcBef>
                <a:spcPts val="0"/>
              </a:spcBef>
              <a:spcAft>
                <a:spcPts val="0"/>
              </a:spcAft>
              <a:buNone/>
            </a:pPr>
            <a:r>
              <a:rPr lang="fr" sz="1100">
                <a:solidFill>
                  <a:schemeClr val="dk1"/>
                </a:solidFill>
              </a:rPr>
              <a:t>	B) Graphique de décomposition</a:t>
            </a:r>
            <a:endParaRPr sz="1100">
              <a:solidFill>
                <a:schemeClr val="dk1"/>
              </a:solidFill>
            </a:endParaRPr>
          </a:p>
          <a:p>
            <a:pPr indent="0" lvl="0" marL="457200" rtl="0" algn="l">
              <a:spcBef>
                <a:spcPts val="0"/>
              </a:spcBef>
              <a:spcAft>
                <a:spcPts val="0"/>
              </a:spcAft>
              <a:buNone/>
            </a:pPr>
            <a:r>
              <a:rPr lang="fr" sz="1100">
                <a:solidFill>
                  <a:schemeClr val="dk1"/>
                </a:solidFill>
              </a:rPr>
              <a:t>	C) ACF, PACF</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arenR"/>
            </a:pPr>
            <a:r>
              <a:rPr b="1" lang="fr" sz="1100">
                <a:solidFill>
                  <a:schemeClr val="dk1"/>
                </a:solidFill>
              </a:rPr>
              <a:t>Test de Dickey Fuller (test DF)</a:t>
            </a:r>
            <a:endParaRPr b="1" sz="1100">
              <a:solidFill>
                <a:schemeClr val="dk1"/>
              </a:solidFill>
            </a:endParaRPr>
          </a:p>
          <a:p>
            <a:pPr indent="0" lvl="0" marL="457200" rtl="0" algn="l">
              <a:spcBef>
                <a:spcPts val="0"/>
              </a:spcBef>
              <a:spcAft>
                <a:spcPts val="0"/>
              </a:spcAft>
              <a:buNone/>
            </a:pPr>
            <a:r>
              <a:rPr lang="fr" sz="1100">
                <a:solidFill>
                  <a:schemeClr val="dk1"/>
                </a:solidFill>
              </a:rPr>
              <a:t>	A) Trend</a:t>
            </a:r>
            <a:endParaRPr sz="1100">
              <a:solidFill>
                <a:schemeClr val="dk1"/>
              </a:solidFill>
            </a:endParaRPr>
          </a:p>
          <a:p>
            <a:pPr indent="0" lvl="0" marL="457200" rtl="0" algn="l">
              <a:spcBef>
                <a:spcPts val="0"/>
              </a:spcBef>
              <a:spcAft>
                <a:spcPts val="0"/>
              </a:spcAft>
              <a:buNone/>
            </a:pPr>
            <a:r>
              <a:rPr lang="fr" sz="1100">
                <a:solidFill>
                  <a:schemeClr val="dk1"/>
                </a:solidFill>
              </a:rPr>
              <a:t>	B) Drift</a:t>
            </a:r>
            <a:endParaRPr sz="1100">
              <a:solidFill>
                <a:schemeClr val="dk1"/>
              </a:solidFill>
            </a:endParaRPr>
          </a:p>
          <a:p>
            <a:pPr indent="0" lvl="0" marL="457200" rtl="0" algn="l">
              <a:spcBef>
                <a:spcPts val="0"/>
              </a:spcBef>
              <a:spcAft>
                <a:spcPts val="0"/>
              </a:spcAft>
              <a:buNone/>
            </a:pPr>
            <a:r>
              <a:rPr lang="fr" sz="1100">
                <a:solidFill>
                  <a:schemeClr val="dk1"/>
                </a:solidFill>
              </a:rPr>
              <a:t>	C) None</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arenR"/>
            </a:pPr>
            <a:r>
              <a:rPr b="1" lang="fr" sz="1100">
                <a:solidFill>
                  <a:schemeClr val="dk1"/>
                </a:solidFill>
              </a:rPr>
              <a:t>Test de Dickey Fuller Augmenté (test ADF)</a:t>
            </a:r>
            <a:endParaRPr b="1" sz="1100">
              <a:solidFill>
                <a:schemeClr val="dk1"/>
              </a:solidFill>
            </a:endParaRPr>
          </a:p>
          <a:p>
            <a:pPr indent="0" lvl="0" marL="457200" rtl="0" algn="l">
              <a:spcBef>
                <a:spcPts val="0"/>
              </a:spcBef>
              <a:spcAft>
                <a:spcPts val="0"/>
              </a:spcAft>
              <a:buNone/>
            </a:pPr>
            <a:r>
              <a:rPr lang="fr" sz="1100">
                <a:solidFill>
                  <a:schemeClr val="dk1"/>
                </a:solidFill>
              </a:rPr>
              <a:t>	A) Trend </a:t>
            </a:r>
            <a:endParaRPr sz="1100">
              <a:solidFill>
                <a:schemeClr val="dk1"/>
              </a:solidFill>
            </a:endParaRPr>
          </a:p>
          <a:p>
            <a:pPr indent="0" lvl="0" marL="457200" rtl="0" algn="l">
              <a:spcBef>
                <a:spcPts val="0"/>
              </a:spcBef>
              <a:spcAft>
                <a:spcPts val="0"/>
              </a:spcAft>
              <a:buNone/>
            </a:pPr>
            <a:r>
              <a:rPr lang="fr" sz="1100">
                <a:solidFill>
                  <a:schemeClr val="dk1"/>
                </a:solidFill>
              </a:rPr>
              <a:t>	B) Drift</a:t>
            </a:r>
            <a:endParaRPr sz="1100">
              <a:solidFill>
                <a:schemeClr val="dk1"/>
              </a:solidFill>
            </a:endParaRPr>
          </a:p>
          <a:p>
            <a:pPr indent="0" lvl="0" marL="457200" rtl="0" algn="l">
              <a:spcBef>
                <a:spcPts val="0"/>
              </a:spcBef>
              <a:spcAft>
                <a:spcPts val="0"/>
              </a:spcAft>
              <a:buNone/>
            </a:pPr>
            <a:r>
              <a:rPr lang="fr" sz="1100">
                <a:solidFill>
                  <a:schemeClr val="dk1"/>
                </a:solidFill>
              </a:rPr>
              <a:t>	C) None</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arenR"/>
            </a:pPr>
            <a:r>
              <a:rPr b="1" lang="fr" sz="1100">
                <a:solidFill>
                  <a:schemeClr val="dk1"/>
                </a:solidFill>
              </a:rPr>
              <a:t>Test de Zivot et Andrews (test ZA) </a:t>
            </a:r>
            <a:endParaRPr b="1" sz="1100">
              <a:solidFill>
                <a:schemeClr val="dk1"/>
              </a:solidFill>
            </a:endParaRPr>
          </a:p>
          <a:p>
            <a:pPr indent="457200" lvl="0" marL="457200" rtl="0" algn="l">
              <a:spcBef>
                <a:spcPts val="0"/>
              </a:spcBef>
              <a:spcAft>
                <a:spcPts val="0"/>
              </a:spcAft>
              <a:buNone/>
            </a:pPr>
            <a:r>
              <a:rPr lang="fr" sz="1100">
                <a:solidFill>
                  <a:schemeClr val="dk1"/>
                </a:solidFill>
              </a:rPr>
              <a:t>A) Spécification “both”</a:t>
            </a:r>
            <a:endParaRPr sz="1100">
              <a:solidFill>
                <a:schemeClr val="dk1"/>
              </a:solidFill>
            </a:endParaRPr>
          </a:p>
          <a:p>
            <a:pPr indent="0" lvl="0" marL="457200" rtl="0" algn="l">
              <a:spcBef>
                <a:spcPts val="0"/>
              </a:spcBef>
              <a:spcAft>
                <a:spcPts val="0"/>
              </a:spcAft>
              <a:buNone/>
            </a:pPr>
            <a:r>
              <a:rPr lang="fr" sz="1100">
                <a:solidFill>
                  <a:schemeClr val="dk1"/>
                </a:solidFill>
              </a:rPr>
              <a:t>	B) Spécification “intercept”</a:t>
            </a:r>
            <a:endParaRPr b="1" sz="1100">
              <a:solidFill>
                <a:schemeClr val="dk1"/>
              </a:solidFill>
            </a:endParaRPr>
          </a:p>
          <a:p>
            <a:pPr indent="0" lvl="0" marL="0" rtl="0" algn="l">
              <a:spcBef>
                <a:spcPts val="0"/>
              </a:spcBef>
              <a:spcAft>
                <a:spcPts val="0"/>
              </a:spcAft>
              <a:buNone/>
            </a:pPr>
            <a:r>
              <a:t/>
            </a:r>
            <a:endParaRPr b="1" sz="1100">
              <a:solidFill>
                <a:schemeClr val="dk1"/>
              </a:solidFill>
            </a:endParaRPr>
          </a:p>
          <a:p>
            <a:pPr indent="-298450" lvl="0" marL="457200" rtl="0" algn="l">
              <a:spcBef>
                <a:spcPts val="0"/>
              </a:spcBef>
              <a:spcAft>
                <a:spcPts val="0"/>
              </a:spcAft>
              <a:buClr>
                <a:schemeClr val="dk1"/>
              </a:buClr>
              <a:buSzPts val="1100"/>
              <a:buAutoNum type="arabicParenR"/>
            </a:pPr>
            <a:r>
              <a:rPr b="1" lang="fr" sz="1100">
                <a:solidFill>
                  <a:schemeClr val="dk1"/>
                </a:solidFill>
              </a:rPr>
              <a:t>Test de Lee et Strazicich avec bootstrap (test LS)</a:t>
            </a:r>
            <a:endParaRPr b="1" sz="1100">
              <a:solidFill>
                <a:schemeClr val="dk1"/>
              </a:solidFill>
            </a:endParaRPr>
          </a:p>
          <a:p>
            <a:pPr indent="457200" lvl="0" marL="457200" rtl="0" algn="l">
              <a:spcBef>
                <a:spcPts val="0"/>
              </a:spcBef>
              <a:spcAft>
                <a:spcPts val="0"/>
              </a:spcAft>
              <a:buNone/>
            </a:pPr>
            <a:r>
              <a:rPr lang="fr" sz="1100">
                <a:solidFill>
                  <a:schemeClr val="dk1"/>
                </a:solidFill>
              </a:rPr>
              <a:t>A) Avec 1 date de rupture</a:t>
            </a:r>
            <a:endParaRPr sz="1100">
              <a:solidFill>
                <a:schemeClr val="dk1"/>
              </a:solidFill>
            </a:endParaRPr>
          </a:p>
          <a:p>
            <a:pPr indent="457200" lvl="0" marL="457200" rtl="0" algn="l">
              <a:spcBef>
                <a:spcPts val="0"/>
              </a:spcBef>
              <a:spcAft>
                <a:spcPts val="0"/>
              </a:spcAft>
              <a:buClr>
                <a:schemeClr val="dk1"/>
              </a:buClr>
              <a:buSzPts val="1100"/>
              <a:buFont typeface="Arial"/>
              <a:buNone/>
            </a:pPr>
            <a:r>
              <a:rPr lang="fr" sz="1100">
                <a:solidFill>
                  <a:schemeClr val="dk1"/>
                </a:solidFill>
              </a:rPr>
              <a:t>B) Avec 2 dates de rupture</a:t>
            </a:r>
            <a:endParaRPr sz="1100">
              <a:solidFill>
                <a:schemeClr val="dk1"/>
              </a:solidFill>
            </a:endParaRPr>
          </a:p>
          <a:p>
            <a:pPr indent="0" lvl="0" marL="0" rtl="0" algn="l">
              <a:spcBef>
                <a:spcPts val="0"/>
              </a:spcBef>
              <a:spcAft>
                <a:spcPts val="0"/>
              </a:spcAft>
              <a:buNone/>
            </a:pPr>
            <a:r>
              <a:t/>
            </a:r>
            <a:endParaRPr b="1" sz="1100">
              <a:solidFill>
                <a:schemeClr val="dk1"/>
              </a:solidFill>
            </a:endParaRPr>
          </a:p>
          <a:p>
            <a:pPr indent="0" lvl="0" marL="0" rtl="0" algn="l">
              <a:spcBef>
                <a:spcPts val="0"/>
              </a:spcBef>
              <a:spcAft>
                <a:spcPts val="0"/>
              </a:spcAft>
              <a:buNone/>
            </a:pPr>
            <a:r>
              <a:rPr b="1" lang="fr" sz="1100">
                <a:solidFill>
                  <a:schemeClr val="dk1"/>
                </a:solidFill>
              </a:rPr>
              <a:t>CONCLUSION INTERMÉDIAIRE</a:t>
            </a:r>
            <a:endParaRPr b="1" sz="1100">
              <a:solidFill>
                <a:schemeClr val="dk1"/>
              </a:solidFill>
            </a:endParaRPr>
          </a:p>
          <a:p>
            <a:pPr indent="0" lvl="0" marL="457200" rtl="0" algn="l">
              <a:spcBef>
                <a:spcPts val="0"/>
              </a:spcBef>
              <a:spcAft>
                <a:spcPts val="0"/>
              </a:spcAft>
              <a:buNone/>
            </a:pPr>
            <a:r>
              <a:t/>
            </a:r>
            <a:endParaRPr sz="1800">
              <a:solidFill>
                <a:schemeClr val="dk2"/>
              </a:solidFill>
            </a:endParaRPr>
          </a:p>
        </p:txBody>
      </p:sp>
      <p:sp>
        <p:nvSpPr>
          <p:cNvPr id="67" name="Google Shape;6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68" name="Google Shape;68;p14"/>
          <p:cNvSpPr txBox="1"/>
          <p:nvPr/>
        </p:nvSpPr>
        <p:spPr>
          <a:xfrm>
            <a:off x="5003025" y="983325"/>
            <a:ext cx="3047100" cy="7350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AutoNum type="arabicParenR" startAt="6"/>
            </a:pPr>
            <a:r>
              <a:rPr b="1" lang="fr" sz="1100">
                <a:solidFill>
                  <a:schemeClr val="dk1"/>
                </a:solidFill>
              </a:rPr>
              <a:t>Différenciation à l’ordre 1 de la série</a:t>
            </a:r>
            <a:endParaRPr b="1" sz="1100">
              <a:solidFill>
                <a:schemeClr val="dk1"/>
              </a:solidFill>
            </a:endParaRPr>
          </a:p>
          <a:p>
            <a:pPr indent="457200" lvl="0" marL="457200" rtl="0" algn="l">
              <a:spcBef>
                <a:spcPts val="0"/>
              </a:spcBef>
              <a:spcAft>
                <a:spcPts val="0"/>
              </a:spcAft>
              <a:buNone/>
            </a:pPr>
            <a:r>
              <a:rPr lang="fr" sz="1100">
                <a:solidFill>
                  <a:schemeClr val="dk1"/>
                </a:solidFill>
              </a:rPr>
              <a:t>A) Test DF</a:t>
            </a:r>
            <a:endParaRPr sz="1100">
              <a:solidFill>
                <a:schemeClr val="dk1"/>
              </a:solidFill>
            </a:endParaRPr>
          </a:p>
          <a:p>
            <a:pPr indent="0" lvl="0" marL="457200" rtl="0" algn="l">
              <a:spcBef>
                <a:spcPts val="0"/>
              </a:spcBef>
              <a:spcAft>
                <a:spcPts val="0"/>
              </a:spcAft>
              <a:buNone/>
            </a:pPr>
            <a:r>
              <a:rPr lang="fr" sz="1100">
                <a:solidFill>
                  <a:schemeClr val="dk1"/>
                </a:solidFill>
              </a:rPr>
              <a:t>	B) Test ADF</a:t>
            </a:r>
            <a:endParaRPr sz="1100">
              <a:solidFill>
                <a:schemeClr val="dk1"/>
              </a:solidFill>
            </a:endParaRPr>
          </a:p>
        </p:txBody>
      </p:sp>
      <p:sp>
        <p:nvSpPr>
          <p:cNvPr id="69" name="Google Shape;69;p14"/>
          <p:cNvSpPr txBox="1"/>
          <p:nvPr/>
        </p:nvSpPr>
        <p:spPr>
          <a:xfrm>
            <a:off x="5121875" y="1718325"/>
            <a:ext cx="22368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fr" sz="1100">
                <a:solidFill>
                  <a:schemeClr val="dk1"/>
                </a:solidFill>
              </a:rPr>
              <a:t>CONCLUSION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5"/>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75" name="Google Shape;75;p15"/>
          <p:cNvSpPr txBox="1"/>
          <p:nvPr>
            <p:ph type="ctrTitle"/>
          </p:nvPr>
        </p:nvSpPr>
        <p:spPr>
          <a:xfrm>
            <a:off x="0" y="0"/>
            <a:ext cx="9144000" cy="475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fr" sz="2200">
                <a:solidFill>
                  <a:srgbClr val="FF0000"/>
                </a:solidFill>
                <a:latin typeface="Roboto"/>
                <a:ea typeface="Roboto"/>
                <a:cs typeface="Roboto"/>
                <a:sym typeface="Roboto"/>
              </a:rPr>
              <a:t>INTRODUCTION</a:t>
            </a:r>
            <a:endParaRPr b="1" sz="2200">
              <a:solidFill>
                <a:srgbClr val="FF0000"/>
              </a:solidFill>
            </a:endParaRPr>
          </a:p>
        </p:txBody>
      </p:sp>
      <p:sp>
        <p:nvSpPr>
          <p:cNvPr id="76" name="Google Shape;76;p15"/>
          <p:cNvSpPr txBox="1"/>
          <p:nvPr>
            <p:ph idx="1" type="subTitle"/>
          </p:nvPr>
        </p:nvSpPr>
        <p:spPr>
          <a:xfrm>
            <a:off x="0" y="333625"/>
            <a:ext cx="9144000" cy="4723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200">
                <a:solidFill>
                  <a:schemeClr val="dk1"/>
                </a:solidFill>
              </a:rPr>
              <a:t>Pour commencer,  l</a:t>
            </a:r>
            <a:r>
              <a:rPr lang="fr" sz="1200">
                <a:solidFill>
                  <a:schemeClr val="dk1"/>
                </a:solidFill>
              </a:rPr>
              <a:t>a Thaïlande se situe à la 73ème place dans la production de pétrole dans le monde, avec une production de 16,1 millions de barils par jour en 2023 selon World Bank Group. V</a:t>
            </a:r>
            <a:r>
              <a:rPr lang="fr" sz="1200">
                <a:solidFill>
                  <a:schemeClr val="dk1"/>
                </a:solidFill>
              </a:rPr>
              <a:t>oici une liste non exhaustive des différentes crises</a:t>
            </a:r>
            <a:r>
              <a:rPr lang="fr" sz="1200">
                <a:solidFill>
                  <a:schemeClr val="dk1"/>
                </a:solidFill>
              </a:rPr>
              <a:t> ayant influencé production de pétrole en Thaïlande entre 1971 et 2021:</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b="1" lang="fr" sz="1200">
                <a:solidFill>
                  <a:schemeClr val="dk1"/>
                </a:solidFill>
              </a:rPr>
              <a:t>1- Choc pétrolier de 1973-1974 : </a:t>
            </a:r>
            <a:r>
              <a:rPr lang="fr" sz="1200">
                <a:solidFill>
                  <a:schemeClr val="dk1"/>
                </a:solidFill>
              </a:rPr>
              <a:t>La première crise pétrolière a été déclenchée par l'embargo pétrolier arabe pendant la guerre du Kippour en 1973, entraînant une hausse spectaculaire des prix du pétrole. Cela a eu un impact sur l'économie mondiale, y compris sur les pays importateurs de pétrole comme la Thaïlande.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None/>
            </a:pPr>
            <a:r>
              <a:rPr b="1" lang="fr" sz="1200">
                <a:solidFill>
                  <a:schemeClr val="dk1"/>
                </a:solidFill>
              </a:rPr>
              <a:t>2- 2000: </a:t>
            </a:r>
            <a:r>
              <a:rPr lang="fr" sz="1300">
                <a:solidFill>
                  <a:schemeClr val="dk1"/>
                </a:solidFill>
              </a:rPr>
              <a:t>La sécheresse a entraîné une baisse du niveau d'eau dans les réservoirs, ce qui a rendu difficile l'extraction de pétrole brut dans les champs</a:t>
            </a:r>
            <a:endParaRPr sz="13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b="1" lang="fr" sz="1200">
                <a:solidFill>
                  <a:schemeClr val="dk1"/>
                </a:solidFill>
              </a:rPr>
              <a:t>3- 2011: </a:t>
            </a:r>
            <a:r>
              <a:rPr lang="fr" sz="1200">
                <a:solidFill>
                  <a:schemeClr val="dk1"/>
                </a:solidFill>
              </a:rPr>
              <a:t>La plateforme pétrolière Deepwater Horizon, exploitée par la compagnie pétrolière BP, a subi une explosion entraînant un déversement massif de pétrole brut dans les eaux du golfe du Mexique.</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fr" sz="1200">
                <a:solidFill>
                  <a:schemeClr val="dk1"/>
                </a:solidFill>
              </a:rPr>
              <a:t>4- 2016: </a:t>
            </a:r>
            <a:r>
              <a:rPr lang="fr" sz="1200">
                <a:solidFill>
                  <a:schemeClr val="dk1"/>
                </a:solidFill>
              </a:rPr>
              <a:t>L'incendie majeur survenu dans la raffinerie de pétrole de Bangchak à Bangkok.</a:t>
            </a:r>
            <a:endParaRPr sz="1200">
              <a:solidFill>
                <a:schemeClr val="dk1"/>
              </a:solidFill>
            </a:endParaRPr>
          </a:p>
          <a:p>
            <a:pPr indent="0" lvl="0" marL="0" rtl="0" algn="l">
              <a:lnSpc>
                <a:spcPct val="115000"/>
              </a:lnSpc>
              <a:spcBef>
                <a:spcPts val="0"/>
              </a:spcBef>
              <a:spcAft>
                <a:spcPts val="0"/>
              </a:spcAft>
              <a:buNone/>
            </a:pPr>
            <a:r>
              <a:t/>
            </a:r>
            <a:endParaRPr b="1" sz="1200">
              <a:solidFill>
                <a:schemeClr val="dk1"/>
              </a:solidFill>
            </a:endParaRPr>
          </a:p>
          <a:p>
            <a:pPr indent="0" lvl="0" marL="0" rtl="0" algn="l">
              <a:lnSpc>
                <a:spcPct val="115000"/>
              </a:lnSpc>
              <a:spcBef>
                <a:spcPts val="0"/>
              </a:spcBef>
              <a:spcAft>
                <a:spcPts val="0"/>
              </a:spcAft>
              <a:buNone/>
            </a:pPr>
            <a:r>
              <a:rPr b="1" lang="fr" sz="1200">
                <a:solidFill>
                  <a:schemeClr val="dk1"/>
                </a:solidFill>
              </a:rPr>
              <a:t>5- Crise financière mondiale (subprimes) de 2008 :</a:t>
            </a:r>
            <a:r>
              <a:rPr lang="fr" sz="1200">
                <a:solidFill>
                  <a:schemeClr val="dk1"/>
                </a:solidFill>
              </a:rPr>
              <a:t> La crise financière a entraîné une forte contraction de la demande mondiale de pétrole, entraînant une chute des prix du pétrole.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fr" sz="1200">
                <a:solidFill>
                  <a:schemeClr val="dk1"/>
                </a:solidFill>
              </a:rPr>
              <a:t>6- Pandémie de COVID-19 (à partir de 2019) : </a:t>
            </a:r>
            <a:r>
              <a:rPr lang="fr" sz="1200">
                <a:solidFill>
                  <a:schemeClr val="dk1"/>
                </a:solidFill>
              </a:rPr>
              <a:t>La pandémie de COVID-19 en 2019-2020 a entraîné une baisse importante de la demande mondiale de pétrole en raison des restrictions de déplacement et de l'effondrement de l'activité économique, entraînant une chute des prix du pétrole.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None/>
            </a:pPr>
            <a:r>
              <a:t/>
            </a:r>
            <a:endParaRPr sz="1200">
              <a:solidFill>
                <a:srgbClr val="374151"/>
              </a:solidFill>
              <a:latin typeface="Roboto"/>
              <a:ea typeface="Roboto"/>
              <a:cs typeface="Roboto"/>
              <a:sym typeface="Roboto"/>
            </a:endParaRPr>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6"/>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83" name="Google Shape;83;p16"/>
          <p:cNvSpPr txBox="1"/>
          <p:nvPr/>
        </p:nvSpPr>
        <p:spPr>
          <a:xfrm>
            <a:off x="0" y="0"/>
            <a:ext cx="30000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a:pPr>
            <a:r>
              <a:rPr b="1" lang="fr" sz="1500">
                <a:solidFill>
                  <a:schemeClr val="dk1"/>
                </a:solidFill>
              </a:rPr>
              <a:t>Graphiques</a:t>
            </a:r>
            <a:endParaRPr/>
          </a:p>
        </p:txBody>
      </p:sp>
      <p:sp>
        <p:nvSpPr>
          <p:cNvPr id="84" name="Google Shape;84;p16"/>
          <p:cNvSpPr txBox="1"/>
          <p:nvPr/>
        </p:nvSpPr>
        <p:spPr>
          <a:xfrm>
            <a:off x="0" y="34240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A) Chronogramme</a:t>
            </a:r>
            <a:endParaRPr/>
          </a:p>
        </p:txBody>
      </p:sp>
      <p:pic>
        <p:nvPicPr>
          <p:cNvPr id="85" name="Google Shape;85;p16"/>
          <p:cNvPicPr preferRelativeResize="0"/>
          <p:nvPr/>
        </p:nvPicPr>
        <p:blipFill>
          <a:blip r:embed="rId4">
            <a:alphaModFix/>
          </a:blip>
          <a:stretch>
            <a:fillRect/>
          </a:stretch>
        </p:blipFill>
        <p:spPr>
          <a:xfrm>
            <a:off x="4632525" y="1056475"/>
            <a:ext cx="4511474" cy="4087027"/>
          </a:xfrm>
          <a:prstGeom prst="rect">
            <a:avLst/>
          </a:prstGeom>
          <a:noFill/>
          <a:ln>
            <a:noFill/>
          </a:ln>
        </p:spPr>
      </p:pic>
      <p:sp>
        <p:nvSpPr>
          <p:cNvPr id="86" name="Google Shape;86;p16"/>
          <p:cNvSpPr txBox="1"/>
          <p:nvPr/>
        </p:nvSpPr>
        <p:spPr>
          <a:xfrm>
            <a:off x="0" y="1415550"/>
            <a:ext cx="4632600" cy="180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La série du pétrole présente une tendance croissante.</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observe également de l'hétéroscédasticité car l'écart à la tendance varie. La tendance est la droite en rouge sur le chronogramme.</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Nous n’avons pas de saisonnalité ici.</a:t>
            </a:r>
            <a:endParaRPr sz="13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87" name="Google Shape;8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7"/>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93" name="Google Shape;93;p17"/>
          <p:cNvSpPr txBox="1"/>
          <p:nvPr/>
        </p:nvSpPr>
        <p:spPr>
          <a:xfrm>
            <a:off x="0" y="0"/>
            <a:ext cx="30000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a:pPr>
            <a:r>
              <a:rPr b="1" lang="fr" sz="1500">
                <a:solidFill>
                  <a:schemeClr val="dk1"/>
                </a:solidFill>
              </a:rPr>
              <a:t>Graphiques</a:t>
            </a:r>
            <a:endParaRPr/>
          </a:p>
        </p:txBody>
      </p:sp>
      <p:sp>
        <p:nvSpPr>
          <p:cNvPr id="94" name="Google Shape;94;p17"/>
          <p:cNvSpPr txBox="1"/>
          <p:nvPr/>
        </p:nvSpPr>
        <p:spPr>
          <a:xfrm>
            <a:off x="0" y="345775"/>
            <a:ext cx="35118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B) Graphique de décomposition</a:t>
            </a:r>
            <a:endParaRPr/>
          </a:p>
        </p:txBody>
      </p:sp>
      <p:pic>
        <p:nvPicPr>
          <p:cNvPr id="95" name="Google Shape;95;p17"/>
          <p:cNvPicPr preferRelativeResize="0"/>
          <p:nvPr/>
        </p:nvPicPr>
        <p:blipFill>
          <a:blip r:embed="rId4">
            <a:alphaModFix/>
          </a:blip>
          <a:stretch>
            <a:fillRect/>
          </a:stretch>
        </p:blipFill>
        <p:spPr>
          <a:xfrm>
            <a:off x="3078375" y="854575"/>
            <a:ext cx="6065624" cy="4288925"/>
          </a:xfrm>
          <a:prstGeom prst="rect">
            <a:avLst/>
          </a:prstGeom>
          <a:noFill/>
          <a:ln>
            <a:noFill/>
          </a:ln>
        </p:spPr>
      </p:pic>
      <p:sp>
        <p:nvSpPr>
          <p:cNvPr id="96" name="Google Shape;96;p17"/>
          <p:cNvSpPr txBox="1"/>
          <p:nvPr/>
        </p:nvSpPr>
        <p:spPr>
          <a:xfrm>
            <a:off x="244500" y="1058925"/>
            <a:ext cx="2755500" cy="252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Comme nous avons observé que la série était hétéroscédastique, nous optons pour une décomposition multiplicative de la </a:t>
            </a:r>
            <a:r>
              <a:rPr lang="fr" sz="1300">
                <a:solidFill>
                  <a:schemeClr val="dk1"/>
                </a:solidFill>
              </a:rPr>
              <a:t>série. Nous aurions choisi une décomposition additive s’il y avait eu homoscédasticité.</a:t>
            </a:r>
            <a:endParaRPr sz="1300">
              <a:solidFill>
                <a:schemeClr val="dk1"/>
              </a:solidFill>
            </a:endParaRPr>
          </a:p>
        </p:txBody>
      </p:sp>
      <p:sp>
        <p:nvSpPr>
          <p:cNvPr id="97" name="Google Shape;9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18"/>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103" name="Google Shape;103;p18"/>
          <p:cNvSpPr txBox="1"/>
          <p:nvPr/>
        </p:nvSpPr>
        <p:spPr>
          <a:xfrm>
            <a:off x="0" y="0"/>
            <a:ext cx="30000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a:pPr>
            <a:r>
              <a:rPr b="1" lang="fr" sz="1500">
                <a:solidFill>
                  <a:schemeClr val="dk1"/>
                </a:solidFill>
              </a:rPr>
              <a:t>Graphiques</a:t>
            </a:r>
            <a:endParaRPr/>
          </a:p>
        </p:txBody>
      </p:sp>
      <p:sp>
        <p:nvSpPr>
          <p:cNvPr id="104" name="Google Shape;104;p18"/>
          <p:cNvSpPr txBox="1"/>
          <p:nvPr/>
        </p:nvSpPr>
        <p:spPr>
          <a:xfrm>
            <a:off x="48050" y="32690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C) ACF, PACF</a:t>
            </a:r>
            <a:endParaRPr/>
          </a:p>
        </p:txBody>
      </p:sp>
      <p:pic>
        <p:nvPicPr>
          <p:cNvPr id="105" name="Google Shape;105;p18"/>
          <p:cNvPicPr preferRelativeResize="0"/>
          <p:nvPr/>
        </p:nvPicPr>
        <p:blipFill>
          <a:blip r:embed="rId4">
            <a:alphaModFix/>
          </a:blip>
          <a:stretch>
            <a:fillRect/>
          </a:stretch>
        </p:blipFill>
        <p:spPr>
          <a:xfrm>
            <a:off x="0" y="885725"/>
            <a:ext cx="4723250" cy="4257325"/>
          </a:xfrm>
          <a:prstGeom prst="rect">
            <a:avLst/>
          </a:prstGeom>
          <a:noFill/>
          <a:ln>
            <a:noFill/>
          </a:ln>
        </p:spPr>
      </p:pic>
      <p:sp>
        <p:nvSpPr>
          <p:cNvPr id="106" name="Google Shape;106;p18"/>
          <p:cNvSpPr txBox="1"/>
          <p:nvPr/>
        </p:nvSpPr>
        <p:spPr>
          <a:xfrm>
            <a:off x="4797725" y="1004925"/>
            <a:ext cx="3782100" cy="396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1300">
                <a:solidFill>
                  <a:schemeClr val="dk1"/>
                </a:solidFill>
              </a:rPr>
              <a:t>Au niveau de l’ACF on observe une alternance de corrélations positives et négatives. Donc c'est un </a:t>
            </a:r>
            <a:r>
              <a:rPr lang="fr" sz="1300">
                <a:solidFill>
                  <a:schemeClr val="dk1"/>
                </a:solidFill>
              </a:rPr>
              <a:t>processus</a:t>
            </a:r>
            <a:r>
              <a:rPr lang="fr" sz="1300">
                <a:solidFill>
                  <a:schemeClr val="dk1"/>
                </a:solidFill>
              </a:rPr>
              <a:t> auto-régressif, donc de la forme:</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None/>
            </a:pPr>
            <a:r>
              <a:rPr lang="fr" sz="1300">
                <a:solidFill>
                  <a:schemeClr val="dk1"/>
                </a:solidFill>
              </a:rPr>
              <a:t>On cherche ensuite l'ordre avec la PACF.</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Au niveau de la PACF on observe une autocorrélation à l'ordre 1 très élevée.</a:t>
            </a:r>
            <a:endParaRPr sz="1300">
              <a:solidFill>
                <a:schemeClr val="dk1"/>
              </a:solidFill>
            </a:endParaRPr>
          </a:p>
          <a:p>
            <a:pPr indent="0" lvl="0" marL="0" rtl="0" algn="l">
              <a:spcBef>
                <a:spcPts val="0"/>
              </a:spcBef>
              <a:spcAft>
                <a:spcPts val="0"/>
              </a:spcAft>
              <a:buNone/>
            </a:pPr>
            <a:r>
              <a:t/>
            </a:r>
            <a:endParaRPr sz="1800">
              <a:solidFill>
                <a:schemeClr val="dk2"/>
              </a:solidFill>
            </a:endParaRPr>
          </a:p>
        </p:txBody>
      </p:sp>
      <p:pic>
        <p:nvPicPr>
          <p:cNvPr id="107" name="Google Shape;107;p18"/>
          <p:cNvPicPr preferRelativeResize="0"/>
          <p:nvPr/>
        </p:nvPicPr>
        <p:blipFill>
          <a:blip r:embed="rId5">
            <a:alphaModFix/>
          </a:blip>
          <a:stretch>
            <a:fillRect/>
          </a:stretch>
        </p:blipFill>
        <p:spPr>
          <a:xfrm>
            <a:off x="4875028" y="1863775"/>
            <a:ext cx="3464825" cy="643125"/>
          </a:xfrm>
          <a:prstGeom prst="rect">
            <a:avLst/>
          </a:prstGeom>
          <a:noFill/>
          <a:ln>
            <a:noFill/>
          </a:ln>
        </p:spPr>
      </p:pic>
      <p:sp>
        <p:nvSpPr>
          <p:cNvPr id="108" name="Google Shape;10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19"/>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114" name="Google Shape;114;p19"/>
          <p:cNvSpPr txBox="1"/>
          <p:nvPr/>
        </p:nvSpPr>
        <p:spPr>
          <a:xfrm>
            <a:off x="0" y="0"/>
            <a:ext cx="3479400" cy="646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2"/>
            </a:pPr>
            <a:r>
              <a:rPr b="1" lang="fr" sz="1500">
                <a:solidFill>
                  <a:schemeClr val="dk1"/>
                </a:solidFill>
              </a:rPr>
              <a:t>Test Dickey Fuller (test DF)</a:t>
            </a:r>
            <a:endParaRPr>
              <a:solidFill>
                <a:schemeClr val="dk1"/>
              </a:solidFill>
            </a:endParaRPr>
          </a:p>
          <a:p>
            <a:pPr indent="0" lvl="0" marL="0" rtl="0" algn="l">
              <a:spcBef>
                <a:spcPts val="0"/>
              </a:spcBef>
              <a:spcAft>
                <a:spcPts val="0"/>
              </a:spcAft>
              <a:buNone/>
            </a:pPr>
            <a:r>
              <a:t/>
            </a:r>
            <a:endParaRPr b="1" sz="1500">
              <a:solidFill>
                <a:schemeClr val="dk1"/>
              </a:solidFill>
            </a:endParaRPr>
          </a:p>
        </p:txBody>
      </p:sp>
      <p:sp>
        <p:nvSpPr>
          <p:cNvPr id="115" name="Google Shape;115;p19"/>
          <p:cNvSpPr txBox="1"/>
          <p:nvPr/>
        </p:nvSpPr>
        <p:spPr>
          <a:xfrm>
            <a:off x="0" y="33500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A) Trend</a:t>
            </a:r>
            <a:endParaRPr/>
          </a:p>
        </p:txBody>
      </p:sp>
      <p:pic>
        <p:nvPicPr>
          <p:cNvPr id="116" name="Google Shape;116;p19"/>
          <p:cNvPicPr preferRelativeResize="0"/>
          <p:nvPr/>
        </p:nvPicPr>
        <p:blipFill>
          <a:blip r:embed="rId4">
            <a:alphaModFix/>
          </a:blip>
          <a:stretch>
            <a:fillRect/>
          </a:stretch>
        </p:blipFill>
        <p:spPr>
          <a:xfrm>
            <a:off x="4786925" y="646500"/>
            <a:ext cx="4357076" cy="4496550"/>
          </a:xfrm>
          <a:prstGeom prst="rect">
            <a:avLst/>
          </a:prstGeom>
          <a:noFill/>
          <a:ln>
            <a:noFill/>
          </a:ln>
        </p:spPr>
      </p:pic>
      <p:sp>
        <p:nvSpPr>
          <p:cNvPr id="117" name="Google Shape;117;p19"/>
          <p:cNvSpPr txBox="1"/>
          <p:nvPr/>
        </p:nvSpPr>
        <p:spPr>
          <a:xfrm>
            <a:off x="162075" y="830950"/>
            <a:ext cx="2312400" cy="3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On estime par les MCO:</a:t>
            </a:r>
            <a:endParaRPr sz="1300">
              <a:solidFill>
                <a:schemeClr val="dk1"/>
              </a:solidFill>
            </a:endParaRPr>
          </a:p>
        </p:txBody>
      </p:sp>
      <p:pic>
        <p:nvPicPr>
          <p:cNvPr id="118" name="Google Shape;118;p19"/>
          <p:cNvPicPr preferRelativeResize="0"/>
          <p:nvPr/>
        </p:nvPicPr>
        <p:blipFill>
          <a:blip r:embed="rId5">
            <a:alphaModFix/>
          </a:blip>
          <a:stretch>
            <a:fillRect/>
          </a:stretch>
        </p:blipFill>
        <p:spPr>
          <a:xfrm>
            <a:off x="209300" y="1155250"/>
            <a:ext cx="4512774" cy="646500"/>
          </a:xfrm>
          <a:prstGeom prst="rect">
            <a:avLst/>
          </a:prstGeom>
          <a:noFill/>
          <a:ln>
            <a:noFill/>
          </a:ln>
        </p:spPr>
      </p:pic>
      <p:sp>
        <p:nvSpPr>
          <p:cNvPr id="119" name="Google Shape;119;p19"/>
          <p:cNvSpPr txBox="1"/>
          <p:nvPr/>
        </p:nvSpPr>
        <p:spPr>
          <a:xfrm>
            <a:off x="209300" y="1793750"/>
            <a:ext cx="4285800" cy="346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s’intéresse d’abord au coefficient B1 ce qui est associé à la variable tt.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voit que pvalue(B1) = 0,747 &gt; 0,005 donc B1 n’est pas significatif.</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Donc on accepte l’hypothèse H0: B1=0</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et on </a:t>
            </a:r>
            <a:r>
              <a:rPr lang="fr" sz="1300">
                <a:solidFill>
                  <a:schemeClr val="dk1"/>
                </a:solidFill>
              </a:rPr>
              <a:t>rejette</a:t>
            </a:r>
            <a:r>
              <a:rPr lang="fr" sz="1300">
                <a:solidFill>
                  <a:schemeClr val="dk1"/>
                </a:solidFill>
              </a:rPr>
              <a:t> l’hypothèse alternative Ha: B1≠0.</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Désormais on passe à l’étape suivante du test: Drift.</a:t>
            </a:r>
            <a:endParaRPr sz="13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120" name="Google Shape;12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0"/>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126" name="Google Shape;126;p20"/>
          <p:cNvSpPr txBox="1"/>
          <p:nvPr/>
        </p:nvSpPr>
        <p:spPr>
          <a:xfrm>
            <a:off x="0" y="0"/>
            <a:ext cx="36630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2"/>
            </a:pPr>
            <a:r>
              <a:rPr b="1" lang="fr" sz="1500">
                <a:solidFill>
                  <a:schemeClr val="dk1"/>
                </a:solidFill>
              </a:rPr>
              <a:t>Test Dickey Fuller (test DF)</a:t>
            </a:r>
            <a:endParaRPr/>
          </a:p>
        </p:txBody>
      </p:sp>
      <p:sp>
        <p:nvSpPr>
          <p:cNvPr id="127" name="Google Shape;127;p20"/>
          <p:cNvSpPr txBox="1"/>
          <p:nvPr/>
        </p:nvSpPr>
        <p:spPr>
          <a:xfrm>
            <a:off x="0" y="33500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B</a:t>
            </a:r>
            <a:r>
              <a:rPr lang="fr" sz="1500">
                <a:solidFill>
                  <a:schemeClr val="dk1"/>
                </a:solidFill>
              </a:rPr>
              <a:t>) Drift</a:t>
            </a:r>
            <a:endParaRPr/>
          </a:p>
        </p:txBody>
      </p:sp>
      <p:pic>
        <p:nvPicPr>
          <p:cNvPr id="128" name="Google Shape;128;p20"/>
          <p:cNvPicPr preferRelativeResize="0"/>
          <p:nvPr/>
        </p:nvPicPr>
        <p:blipFill>
          <a:blip r:embed="rId4">
            <a:alphaModFix/>
          </a:blip>
          <a:stretch>
            <a:fillRect/>
          </a:stretch>
        </p:blipFill>
        <p:spPr>
          <a:xfrm>
            <a:off x="4732875" y="476075"/>
            <a:ext cx="4411126" cy="4667425"/>
          </a:xfrm>
          <a:prstGeom prst="rect">
            <a:avLst/>
          </a:prstGeom>
          <a:noFill/>
          <a:ln>
            <a:noFill/>
          </a:ln>
        </p:spPr>
      </p:pic>
      <p:sp>
        <p:nvSpPr>
          <p:cNvPr id="129" name="Google Shape;129;p20"/>
          <p:cNvSpPr txBox="1"/>
          <p:nvPr/>
        </p:nvSpPr>
        <p:spPr>
          <a:xfrm>
            <a:off x="237725" y="842850"/>
            <a:ext cx="2107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On estime désormais:</a:t>
            </a:r>
            <a:endParaRPr sz="1300">
              <a:solidFill>
                <a:schemeClr val="dk1"/>
              </a:solidFill>
            </a:endParaRPr>
          </a:p>
        </p:txBody>
      </p:sp>
      <p:pic>
        <p:nvPicPr>
          <p:cNvPr id="130" name="Google Shape;130;p20"/>
          <p:cNvPicPr preferRelativeResize="0"/>
          <p:nvPr/>
        </p:nvPicPr>
        <p:blipFill>
          <a:blip r:embed="rId5">
            <a:alphaModFix/>
          </a:blip>
          <a:stretch>
            <a:fillRect/>
          </a:stretch>
        </p:blipFill>
        <p:spPr>
          <a:xfrm>
            <a:off x="237725" y="1258350"/>
            <a:ext cx="3727951" cy="550725"/>
          </a:xfrm>
          <a:prstGeom prst="rect">
            <a:avLst/>
          </a:prstGeom>
          <a:noFill/>
          <a:ln>
            <a:noFill/>
          </a:ln>
        </p:spPr>
      </p:pic>
      <p:sp>
        <p:nvSpPr>
          <p:cNvPr id="131" name="Google Shape;131;p20"/>
          <p:cNvSpPr txBox="1"/>
          <p:nvPr/>
        </p:nvSpPr>
        <p:spPr>
          <a:xfrm>
            <a:off x="237725" y="1869375"/>
            <a:ext cx="4203300" cy="293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s’intéresse désormais au coefficient B0, ce qui est associé à la variable intercept.</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voit que pvalue(B0) = 0,0528 &gt; 0,005 donc B0 n’est pas significatif.</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Donc on accepte l’hypothèse nulle H0: B0=0 et on rejette l’hypothèse alternative Ha: B0≠0</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Désormais, on passe à l’étape suivante du test: None.</a:t>
            </a:r>
            <a:endParaRPr sz="13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132" name="Google Shape;13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1"/>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138" name="Google Shape;138;p21"/>
          <p:cNvSpPr txBox="1"/>
          <p:nvPr/>
        </p:nvSpPr>
        <p:spPr>
          <a:xfrm>
            <a:off x="0" y="0"/>
            <a:ext cx="30000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2"/>
            </a:pPr>
            <a:r>
              <a:rPr b="1" lang="fr" sz="1500">
                <a:solidFill>
                  <a:schemeClr val="dk1"/>
                </a:solidFill>
              </a:rPr>
              <a:t>Test Dickey Fuller</a:t>
            </a:r>
            <a:endParaRPr/>
          </a:p>
        </p:txBody>
      </p:sp>
      <p:sp>
        <p:nvSpPr>
          <p:cNvPr id="139" name="Google Shape;139;p21"/>
          <p:cNvSpPr txBox="1"/>
          <p:nvPr/>
        </p:nvSpPr>
        <p:spPr>
          <a:xfrm>
            <a:off x="0" y="33500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C</a:t>
            </a:r>
            <a:r>
              <a:rPr lang="fr" sz="1500">
                <a:solidFill>
                  <a:schemeClr val="dk1"/>
                </a:solidFill>
              </a:rPr>
              <a:t>) None</a:t>
            </a:r>
            <a:endParaRPr/>
          </a:p>
        </p:txBody>
      </p:sp>
      <p:pic>
        <p:nvPicPr>
          <p:cNvPr id="140" name="Google Shape;140;p21"/>
          <p:cNvPicPr preferRelativeResize="0"/>
          <p:nvPr/>
        </p:nvPicPr>
        <p:blipFill>
          <a:blip r:embed="rId4">
            <a:alphaModFix/>
          </a:blip>
          <a:stretch>
            <a:fillRect/>
          </a:stretch>
        </p:blipFill>
        <p:spPr>
          <a:xfrm>
            <a:off x="4873350" y="750500"/>
            <a:ext cx="4270649" cy="4393001"/>
          </a:xfrm>
          <a:prstGeom prst="rect">
            <a:avLst/>
          </a:prstGeom>
          <a:noFill/>
          <a:ln>
            <a:noFill/>
          </a:ln>
        </p:spPr>
      </p:pic>
      <p:sp>
        <p:nvSpPr>
          <p:cNvPr id="141" name="Google Shape;141;p21"/>
          <p:cNvSpPr txBox="1"/>
          <p:nvPr/>
        </p:nvSpPr>
        <p:spPr>
          <a:xfrm>
            <a:off x="302550" y="950900"/>
            <a:ext cx="19449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On estime désormais:</a:t>
            </a:r>
            <a:endParaRPr sz="1300">
              <a:solidFill>
                <a:schemeClr val="dk1"/>
              </a:solidFill>
            </a:endParaRPr>
          </a:p>
        </p:txBody>
      </p:sp>
      <p:pic>
        <p:nvPicPr>
          <p:cNvPr id="142" name="Google Shape;142;p21"/>
          <p:cNvPicPr preferRelativeResize="0"/>
          <p:nvPr/>
        </p:nvPicPr>
        <p:blipFill>
          <a:blip r:embed="rId5">
            <a:alphaModFix/>
          </a:blip>
          <a:stretch>
            <a:fillRect/>
          </a:stretch>
        </p:blipFill>
        <p:spPr>
          <a:xfrm>
            <a:off x="369925" y="1366400"/>
            <a:ext cx="3055475" cy="632600"/>
          </a:xfrm>
          <a:prstGeom prst="rect">
            <a:avLst/>
          </a:prstGeom>
          <a:noFill/>
          <a:ln>
            <a:noFill/>
          </a:ln>
        </p:spPr>
      </p:pic>
      <p:sp>
        <p:nvSpPr>
          <p:cNvPr id="143" name="Google Shape;143;p21"/>
          <p:cNvSpPr txBox="1"/>
          <p:nvPr/>
        </p:nvSpPr>
        <p:spPr>
          <a:xfrm>
            <a:off x="369925" y="1945575"/>
            <a:ext cx="3976500" cy="377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voit que t_calculé = 0,9915 &gt; valeur_critique_5% = -1,95.</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De ce fait on accepte l’hypothèse nulle H0: p=1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et on rejette l’hypothèse alternative Ha: |p|&lt;1.</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Donc s’il n’y a pas d’autocorrélation des aléas, le  </a:t>
            </a:r>
            <a:r>
              <a:rPr b="1" lang="fr" sz="1300">
                <a:solidFill>
                  <a:schemeClr val="dk1"/>
                </a:solidFill>
              </a:rPr>
              <a:t>PGD </a:t>
            </a:r>
            <a:r>
              <a:rPr b="1" lang="fr" sz="1300">
                <a:solidFill>
                  <a:schemeClr val="dk1"/>
                </a:solidFill>
              </a:rPr>
              <a:t>qui a généré le Pétrole </a:t>
            </a:r>
            <a:r>
              <a:rPr b="1" lang="fr" sz="1300">
                <a:solidFill>
                  <a:schemeClr val="dk1"/>
                </a:solidFill>
              </a:rPr>
              <a:t>est DS</a:t>
            </a:r>
            <a:r>
              <a:rPr lang="fr" sz="1300">
                <a:solidFill>
                  <a:schemeClr val="dk1"/>
                </a:solidFill>
              </a:rPr>
              <a:t>.</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sait que: p=1</a:t>
            </a:r>
            <a:endParaRPr sz="1300">
              <a:solidFill>
                <a:schemeClr val="dk1"/>
              </a:solidFill>
            </a:endParaRPr>
          </a:p>
          <a:p>
            <a:pPr indent="0" lvl="0" marL="0" rtl="0" algn="l">
              <a:lnSpc>
                <a:spcPct val="115000"/>
              </a:lnSpc>
              <a:spcBef>
                <a:spcPts val="0"/>
              </a:spcBef>
              <a:spcAft>
                <a:spcPts val="0"/>
              </a:spcAft>
              <a:buNone/>
            </a:pPr>
            <a:r>
              <a:rPr lang="fr" sz="1300">
                <a:solidFill>
                  <a:schemeClr val="dk1"/>
                </a:solidFill>
              </a:rPr>
              <a:t>Donc si les aléas ne sont pas corrélés on a:</a:t>
            </a:r>
            <a:endParaRPr sz="1300">
              <a:solidFill>
                <a:schemeClr val="dk1"/>
              </a:solidFill>
            </a:endParaRPr>
          </a:p>
          <a:p>
            <a:pPr indent="0" lvl="0" marL="0" rtl="0" algn="l">
              <a:spcBef>
                <a:spcPts val="0"/>
              </a:spcBef>
              <a:spcAft>
                <a:spcPts val="0"/>
              </a:spcAft>
              <a:buNone/>
            </a:pPr>
            <a:r>
              <a:t/>
            </a:r>
            <a:endParaRPr sz="1800">
              <a:solidFill>
                <a:schemeClr val="dk2"/>
              </a:solidFill>
            </a:endParaRPr>
          </a:p>
        </p:txBody>
      </p:sp>
      <p:pic>
        <p:nvPicPr>
          <p:cNvPr id="144" name="Google Shape;144;p21"/>
          <p:cNvPicPr preferRelativeResize="0"/>
          <p:nvPr/>
        </p:nvPicPr>
        <p:blipFill>
          <a:blip r:embed="rId6">
            <a:alphaModFix/>
          </a:blip>
          <a:stretch>
            <a:fillRect/>
          </a:stretch>
        </p:blipFill>
        <p:spPr>
          <a:xfrm>
            <a:off x="426100" y="4384225"/>
            <a:ext cx="2573900" cy="586160"/>
          </a:xfrm>
          <a:prstGeom prst="rect">
            <a:avLst/>
          </a:prstGeom>
          <a:noFill/>
          <a:ln>
            <a:noFill/>
          </a:ln>
        </p:spPr>
      </p:pic>
      <p:sp>
        <p:nvSpPr>
          <p:cNvPr id="145" name="Google Shape;14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2"/>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151" name="Google Shape;151;p22"/>
          <p:cNvSpPr txBox="1"/>
          <p:nvPr/>
        </p:nvSpPr>
        <p:spPr>
          <a:xfrm>
            <a:off x="0" y="0"/>
            <a:ext cx="36006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2"/>
            </a:pPr>
            <a:r>
              <a:rPr b="1" lang="fr" sz="1500">
                <a:solidFill>
                  <a:schemeClr val="dk1"/>
                </a:solidFill>
              </a:rPr>
              <a:t>Test Dickey Fuller (test DF)</a:t>
            </a:r>
            <a:endParaRPr/>
          </a:p>
        </p:txBody>
      </p:sp>
      <p:sp>
        <p:nvSpPr>
          <p:cNvPr id="152" name="Google Shape;152;p22"/>
          <p:cNvSpPr txBox="1"/>
          <p:nvPr/>
        </p:nvSpPr>
        <p:spPr>
          <a:xfrm>
            <a:off x="0" y="33500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C) None</a:t>
            </a:r>
            <a:endParaRPr/>
          </a:p>
        </p:txBody>
      </p:sp>
      <p:pic>
        <p:nvPicPr>
          <p:cNvPr id="153" name="Google Shape;153;p22"/>
          <p:cNvPicPr preferRelativeResize="0"/>
          <p:nvPr/>
        </p:nvPicPr>
        <p:blipFill>
          <a:blip r:embed="rId4">
            <a:alphaModFix/>
          </a:blip>
          <a:stretch>
            <a:fillRect/>
          </a:stretch>
        </p:blipFill>
        <p:spPr>
          <a:xfrm>
            <a:off x="0" y="1275075"/>
            <a:ext cx="5424449" cy="3922449"/>
          </a:xfrm>
          <a:prstGeom prst="rect">
            <a:avLst/>
          </a:prstGeom>
          <a:noFill/>
          <a:ln>
            <a:noFill/>
          </a:ln>
        </p:spPr>
      </p:pic>
      <p:sp>
        <p:nvSpPr>
          <p:cNvPr id="154" name="Google Shape;154;p22"/>
          <p:cNvSpPr txBox="1"/>
          <p:nvPr/>
        </p:nvSpPr>
        <p:spPr>
          <a:xfrm>
            <a:off x="5543400" y="1275075"/>
            <a:ext cx="3600600" cy="272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Néanmoins, on observe de l'autocorrélation à l'ordre 3 selon la PACF.</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Donc les </a:t>
            </a:r>
            <a:r>
              <a:rPr b="1" lang="fr" sz="1300">
                <a:solidFill>
                  <a:schemeClr val="dk1"/>
                </a:solidFill>
              </a:rPr>
              <a:t>conclusions du test DF ne sont pas valables</a:t>
            </a:r>
            <a:r>
              <a:rPr lang="fr" sz="1300">
                <a:solidFill>
                  <a:schemeClr val="dk1"/>
                </a:solidFill>
              </a:rPr>
              <a:t>.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Ainsi nous allons devoir faire un test ADF en prenant en compte cette autocorrélation désormais.</a:t>
            </a:r>
            <a:endParaRPr sz="13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155" name="Google Shape;15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23"/>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161" name="Google Shape;161;p23"/>
          <p:cNvSpPr txBox="1"/>
          <p:nvPr/>
        </p:nvSpPr>
        <p:spPr>
          <a:xfrm>
            <a:off x="0" y="0"/>
            <a:ext cx="46788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3"/>
            </a:pPr>
            <a:r>
              <a:rPr b="1" lang="fr" sz="1500">
                <a:solidFill>
                  <a:schemeClr val="dk1"/>
                </a:solidFill>
              </a:rPr>
              <a:t>Test Dickey Fuller Augmenté (test ADF)</a:t>
            </a:r>
            <a:endParaRPr/>
          </a:p>
        </p:txBody>
      </p:sp>
      <p:sp>
        <p:nvSpPr>
          <p:cNvPr id="162" name="Google Shape;162;p23"/>
          <p:cNvSpPr txBox="1"/>
          <p:nvPr/>
        </p:nvSpPr>
        <p:spPr>
          <a:xfrm>
            <a:off x="75650" y="30745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A</a:t>
            </a:r>
            <a:r>
              <a:rPr lang="fr" sz="1500">
                <a:solidFill>
                  <a:schemeClr val="dk1"/>
                </a:solidFill>
              </a:rPr>
              <a:t>) Trend</a:t>
            </a:r>
            <a:endParaRPr/>
          </a:p>
        </p:txBody>
      </p:sp>
      <p:pic>
        <p:nvPicPr>
          <p:cNvPr id="163" name="Google Shape;163;p23"/>
          <p:cNvPicPr preferRelativeResize="0"/>
          <p:nvPr/>
        </p:nvPicPr>
        <p:blipFill>
          <a:blip r:embed="rId4">
            <a:alphaModFix/>
          </a:blip>
          <a:stretch>
            <a:fillRect/>
          </a:stretch>
        </p:blipFill>
        <p:spPr>
          <a:xfrm>
            <a:off x="-41500" y="722950"/>
            <a:ext cx="4072024" cy="4420549"/>
          </a:xfrm>
          <a:prstGeom prst="rect">
            <a:avLst/>
          </a:prstGeom>
          <a:noFill/>
          <a:ln>
            <a:noFill/>
          </a:ln>
        </p:spPr>
      </p:pic>
      <p:pic>
        <p:nvPicPr>
          <p:cNvPr id="164" name="Google Shape;164;p23"/>
          <p:cNvPicPr preferRelativeResize="0"/>
          <p:nvPr/>
        </p:nvPicPr>
        <p:blipFill>
          <a:blip r:embed="rId5">
            <a:alphaModFix/>
          </a:blip>
          <a:stretch>
            <a:fillRect/>
          </a:stretch>
        </p:blipFill>
        <p:spPr>
          <a:xfrm>
            <a:off x="4300650" y="1144450"/>
            <a:ext cx="4843350" cy="714125"/>
          </a:xfrm>
          <a:prstGeom prst="rect">
            <a:avLst/>
          </a:prstGeom>
          <a:noFill/>
          <a:ln>
            <a:noFill/>
          </a:ln>
        </p:spPr>
      </p:pic>
      <p:sp>
        <p:nvSpPr>
          <p:cNvPr id="165" name="Google Shape;165;p23"/>
          <p:cNvSpPr txBox="1"/>
          <p:nvPr/>
        </p:nvSpPr>
        <p:spPr>
          <a:xfrm>
            <a:off x="4300650" y="722950"/>
            <a:ext cx="2712300" cy="42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On estime par les MCO:</a:t>
            </a:r>
            <a:endParaRPr sz="1300">
              <a:solidFill>
                <a:schemeClr val="dk1"/>
              </a:solidFill>
            </a:endParaRPr>
          </a:p>
        </p:txBody>
      </p:sp>
      <p:sp>
        <p:nvSpPr>
          <p:cNvPr id="166" name="Google Shape;166;p23"/>
          <p:cNvSpPr txBox="1"/>
          <p:nvPr/>
        </p:nvSpPr>
        <p:spPr>
          <a:xfrm>
            <a:off x="4300650" y="1858575"/>
            <a:ext cx="4149300" cy="363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1300">
                <a:solidFill>
                  <a:schemeClr val="dk1"/>
                </a:solidFill>
              </a:rPr>
              <a:t>Tout d’abord, “Max lag of the diff. dependent variable” vaut 3 donc on garde cette valeur, au lieu de BIC.</a:t>
            </a:r>
            <a:endParaRPr sz="1300">
              <a:solidFill>
                <a:schemeClr val="dk1"/>
              </a:solidFill>
            </a:endParaRPr>
          </a:p>
          <a:p>
            <a:pPr indent="0" lvl="0" marL="0" rtl="0" algn="l">
              <a:lnSpc>
                <a:spcPct val="115000"/>
              </a:lnSpc>
              <a:spcBef>
                <a:spcPts val="0"/>
              </a:spcBef>
              <a:spcAft>
                <a:spcPts val="0"/>
              </a:spcAft>
              <a:buNone/>
            </a:pPr>
            <a:r>
              <a:rPr lang="fr" sz="1300">
                <a:solidFill>
                  <a:schemeClr val="dk1"/>
                </a:solidFill>
              </a:rPr>
              <a:t>On voit que pvalue(B1) = 0,3661 &gt; 0,005 donc B1 n’est pas significatif.</a:t>
            </a:r>
            <a:endParaRPr sz="1300">
              <a:solidFill>
                <a:schemeClr val="dk1"/>
              </a:solidFill>
            </a:endParaRPr>
          </a:p>
          <a:p>
            <a:pPr indent="0" lvl="0" marL="0" rtl="0" algn="l">
              <a:lnSpc>
                <a:spcPct val="115000"/>
              </a:lnSpc>
              <a:spcBef>
                <a:spcPts val="0"/>
              </a:spcBef>
              <a:spcAft>
                <a:spcPts val="0"/>
              </a:spcAft>
              <a:buNone/>
            </a:pPr>
            <a:r>
              <a:rPr lang="fr" sz="1300">
                <a:solidFill>
                  <a:schemeClr val="dk1"/>
                </a:solidFill>
              </a:rPr>
              <a:t>Donc on accepte HO: B1=0 et on refuse l’hypothèse alternative </a:t>
            </a:r>
            <a:r>
              <a:rPr lang="fr" sz="1300">
                <a:solidFill>
                  <a:schemeClr val="dk1"/>
                </a:solidFill>
              </a:rPr>
              <a:t>Ha: B1≠0.</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fr" sz="1300">
                <a:solidFill>
                  <a:schemeClr val="dk1"/>
                </a:solidFill>
              </a:rPr>
              <a:t>On passe à l’étape suivante ensuite.</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67" name="Google Shape;16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24"/>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173" name="Google Shape;173;p24"/>
          <p:cNvSpPr txBox="1"/>
          <p:nvPr/>
        </p:nvSpPr>
        <p:spPr>
          <a:xfrm>
            <a:off x="0" y="0"/>
            <a:ext cx="53055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3"/>
            </a:pPr>
            <a:r>
              <a:rPr b="1" lang="fr" sz="1500">
                <a:solidFill>
                  <a:schemeClr val="dk1"/>
                </a:solidFill>
              </a:rPr>
              <a:t>Test Dickey Fuller Augmenté (test ADF)</a:t>
            </a:r>
            <a:endParaRPr/>
          </a:p>
        </p:txBody>
      </p:sp>
      <p:sp>
        <p:nvSpPr>
          <p:cNvPr id="174" name="Google Shape;174;p24"/>
          <p:cNvSpPr txBox="1"/>
          <p:nvPr/>
        </p:nvSpPr>
        <p:spPr>
          <a:xfrm>
            <a:off x="75650" y="30745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B</a:t>
            </a:r>
            <a:r>
              <a:rPr lang="fr" sz="1500">
                <a:solidFill>
                  <a:schemeClr val="dk1"/>
                </a:solidFill>
              </a:rPr>
              <a:t>) Drift</a:t>
            </a:r>
            <a:endParaRPr/>
          </a:p>
        </p:txBody>
      </p:sp>
      <p:pic>
        <p:nvPicPr>
          <p:cNvPr id="175" name="Google Shape;175;p24"/>
          <p:cNvPicPr preferRelativeResize="0"/>
          <p:nvPr/>
        </p:nvPicPr>
        <p:blipFill>
          <a:blip r:embed="rId4">
            <a:alphaModFix/>
          </a:blip>
          <a:stretch>
            <a:fillRect/>
          </a:stretch>
        </p:blipFill>
        <p:spPr>
          <a:xfrm>
            <a:off x="-41500" y="722950"/>
            <a:ext cx="3743134" cy="4420549"/>
          </a:xfrm>
          <a:prstGeom prst="rect">
            <a:avLst/>
          </a:prstGeom>
          <a:noFill/>
          <a:ln>
            <a:noFill/>
          </a:ln>
        </p:spPr>
      </p:pic>
      <p:pic>
        <p:nvPicPr>
          <p:cNvPr id="176" name="Google Shape;176;p24"/>
          <p:cNvPicPr preferRelativeResize="0"/>
          <p:nvPr/>
        </p:nvPicPr>
        <p:blipFill>
          <a:blip r:embed="rId5">
            <a:alphaModFix/>
          </a:blip>
          <a:stretch>
            <a:fillRect/>
          </a:stretch>
        </p:blipFill>
        <p:spPr>
          <a:xfrm>
            <a:off x="4330900" y="1219950"/>
            <a:ext cx="4588450" cy="617025"/>
          </a:xfrm>
          <a:prstGeom prst="rect">
            <a:avLst/>
          </a:prstGeom>
          <a:noFill/>
          <a:ln>
            <a:noFill/>
          </a:ln>
        </p:spPr>
      </p:pic>
      <p:sp>
        <p:nvSpPr>
          <p:cNvPr id="177" name="Google Shape;177;p24"/>
          <p:cNvSpPr txBox="1"/>
          <p:nvPr/>
        </p:nvSpPr>
        <p:spPr>
          <a:xfrm>
            <a:off x="4330900" y="722950"/>
            <a:ext cx="2712300" cy="42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On estime désormais:</a:t>
            </a:r>
            <a:endParaRPr sz="1300">
              <a:solidFill>
                <a:schemeClr val="dk1"/>
              </a:solidFill>
            </a:endParaRPr>
          </a:p>
        </p:txBody>
      </p:sp>
      <p:sp>
        <p:nvSpPr>
          <p:cNvPr id="178" name="Google Shape;178;p24"/>
          <p:cNvSpPr txBox="1"/>
          <p:nvPr/>
        </p:nvSpPr>
        <p:spPr>
          <a:xfrm>
            <a:off x="4330900" y="2009850"/>
            <a:ext cx="3892200" cy="169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voit que pvalue(B0) = 0,7549 &gt; 0,05 donc B0 n’est pas significatif.</a:t>
            </a:r>
            <a:endParaRPr sz="1300">
              <a:solidFill>
                <a:schemeClr val="dk1"/>
              </a:solidFill>
            </a:endParaRPr>
          </a:p>
          <a:p>
            <a:pPr indent="0" lvl="0" marL="0" rtl="0" algn="l">
              <a:lnSpc>
                <a:spcPct val="115000"/>
              </a:lnSpc>
              <a:spcBef>
                <a:spcPts val="0"/>
              </a:spcBef>
              <a:spcAft>
                <a:spcPts val="0"/>
              </a:spcAft>
              <a:buNone/>
            </a:pPr>
            <a:r>
              <a:rPr lang="fr" sz="1300">
                <a:solidFill>
                  <a:schemeClr val="dk1"/>
                </a:solidFill>
              </a:rPr>
              <a:t>Donc on accepte H0: B0=0 et </a:t>
            </a:r>
            <a:r>
              <a:rPr lang="fr" sz="1300">
                <a:solidFill>
                  <a:schemeClr val="dk1"/>
                </a:solidFill>
              </a:rPr>
              <a:t>on rejette l’hypothèse alternative Ha:  B0≠0.</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179" name="Google Shape;17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5"/>
          <p:cNvPicPr preferRelativeResize="0"/>
          <p:nvPr/>
        </p:nvPicPr>
        <p:blipFill>
          <a:blip r:embed="rId3">
            <a:alphaModFix amt="27000"/>
          </a:blip>
          <a:stretch>
            <a:fillRect/>
          </a:stretch>
        </p:blipFill>
        <p:spPr>
          <a:xfrm>
            <a:off x="0" y="457"/>
            <a:ext cx="9144000" cy="5142586"/>
          </a:xfrm>
          <a:prstGeom prst="rect">
            <a:avLst/>
          </a:prstGeom>
          <a:noFill/>
          <a:ln>
            <a:noFill/>
          </a:ln>
        </p:spPr>
      </p:pic>
      <p:pic>
        <p:nvPicPr>
          <p:cNvPr id="185" name="Google Shape;185;p25"/>
          <p:cNvPicPr preferRelativeResize="0"/>
          <p:nvPr/>
        </p:nvPicPr>
        <p:blipFill>
          <a:blip r:embed="rId4">
            <a:alphaModFix/>
          </a:blip>
          <a:stretch>
            <a:fillRect/>
          </a:stretch>
        </p:blipFill>
        <p:spPr>
          <a:xfrm>
            <a:off x="-41500" y="722950"/>
            <a:ext cx="3743134" cy="4420549"/>
          </a:xfrm>
          <a:prstGeom prst="rect">
            <a:avLst/>
          </a:prstGeom>
          <a:noFill/>
          <a:ln>
            <a:noFill/>
          </a:ln>
        </p:spPr>
      </p:pic>
      <p:sp>
        <p:nvSpPr>
          <p:cNvPr id="186" name="Google Shape;186;p25"/>
          <p:cNvSpPr txBox="1"/>
          <p:nvPr/>
        </p:nvSpPr>
        <p:spPr>
          <a:xfrm>
            <a:off x="0" y="0"/>
            <a:ext cx="44736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3"/>
            </a:pPr>
            <a:r>
              <a:rPr b="1" lang="fr" sz="1500">
                <a:solidFill>
                  <a:schemeClr val="dk1"/>
                </a:solidFill>
              </a:rPr>
              <a:t>Test Dickey Fuller Augmenté (test ADF)</a:t>
            </a:r>
            <a:endParaRPr/>
          </a:p>
        </p:txBody>
      </p:sp>
      <p:sp>
        <p:nvSpPr>
          <p:cNvPr id="187" name="Google Shape;187;p25"/>
          <p:cNvSpPr txBox="1"/>
          <p:nvPr/>
        </p:nvSpPr>
        <p:spPr>
          <a:xfrm>
            <a:off x="75650" y="30745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C</a:t>
            </a:r>
            <a:r>
              <a:rPr lang="fr" sz="1500">
                <a:solidFill>
                  <a:schemeClr val="dk1"/>
                </a:solidFill>
              </a:rPr>
              <a:t>) None </a:t>
            </a:r>
            <a:endParaRPr/>
          </a:p>
        </p:txBody>
      </p:sp>
      <p:pic>
        <p:nvPicPr>
          <p:cNvPr id="188" name="Google Shape;188;p25"/>
          <p:cNvPicPr preferRelativeResize="0"/>
          <p:nvPr/>
        </p:nvPicPr>
        <p:blipFill>
          <a:blip r:embed="rId5">
            <a:alphaModFix/>
          </a:blip>
          <a:stretch>
            <a:fillRect/>
          </a:stretch>
        </p:blipFill>
        <p:spPr>
          <a:xfrm>
            <a:off x="4408725" y="1144445"/>
            <a:ext cx="4197250" cy="606775"/>
          </a:xfrm>
          <a:prstGeom prst="rect">
            <a:avLst/>
          </a:prstGeom>
          <a:noFill/>
          <a:ln>
            <a:noFill/>
          </a:ln>
        </p:spPr>
      </p:pic>
      <p:sp>
        <p:nvSpPr>
          <p:cNvPr id="189" name="Google Shape;189;p25"/>
          <p:cNvSpPr txBox="1"/>
          <p:nvPr/>
        </p:nvSpPr>
        <p:spPr>
          <a:xfrm>
            <a:off x="4311475" y="722950"/>
            <a:ext cx="3079500" cy="42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On estime désormais :</a:t>
            </a:r>
            <a:endParaRPr sz="1300">
              <a:solidFill>
                <a:schemeClr val="dk1"/>
              </a:solidFill>
            </a:endParaRPr>
          </a:p>
        </p:txBody>
      </p:sp>
      <p:sp>
        <p:nvSpPr>
          <p:cNvPr id="190" name="Google Shape;190;p25"/>
          <p:cNvSpPr txBox="1"/>
          <p:nvPr/>
        </p:nvSpPr>
        <p:spPr>
          <a:xfrm>
            <a:off x="4408725" y="1993175"/>
            <a:ext cx="4300800" cy="188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prend la première valeur pour t_calculé et on observe que t_calculé = -1,5033 &gt; v_critique_5% = -3,45.</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Donc on accepte H0: p=1 et on rejette </a:t>
            </a:r>
            <a:r>
              <a:rPr lang="fr" sz="1300">
                <a:solidFill>
                  <a:schemeClr val="dk1"/>
                </a:solidFill>
              </a:rPr>
              <a:t>Ha: |p|&lt;1.</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fr" sz="1300">
                <a:solidFill>
                  <a:schemeClr val="dk1"/>
                </a:solidFill>
              </a:rPr>
              <a:t>Ainsi on en conclut que le PGD qui a généré le Pétrole est DS.</a:t>
            </a:r>
            <a:endParaRPr b="1" sz="13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191" name="Google Shape;19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6"/>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197" name="Google Shape;197;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198" name="Google Shape;198;p26"/>
          <p:cNvSpPr txBox="1"/>
          <p:nvPr/>
        </p:nvSpPr>
        <p:spPr>
          <a:xfrm>
            <a:off x="0" y="0"/>
            <a:ext cx="4149300" cy="4464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AutoNum type="arabicParenR" startAt="4"/>
            </a:pPr>
            <a:r>
              <a:rPr b="1" lang="fr" sz="1500">
                <a:solidFill>
                  <a:schemeClr val="dk1"/>
                </a:solidFill>
              </a:rPr>
              <a:t>Test de Zivot et Andrews (test ZA) </a:t>
            </a:r>
            <a:endParaRPr sz="1600">
              <a:solidFill>
                <a:schemeClr val="dk1"/>
              </a:solidFill>
            </a:endParaRPr>
          </a:p>
        </p:txBody>
      </p:sp>
      <p:sp>
        <p:nvSpPr>
          <p:cNvPr id="199" name="Google Shape;199;p26"/>
          <p:cNvSpPr txBox="1"/>
          <p:nvPr/>
        </p:nvSpPr>
        <p:spPr>
          <a:xfrm>
            <a:off x="0" y="659125"/>
            <a:ext cx="8817600" cy="425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None/>
            </a:pPr>
            <a:r>
              <a:t/>
            </a:r>
            <a:endParaRPr sz="1300">
              <a:solidFill>
                <a:schemeClr val="dk1"/>
              </a:solidFill>
            </a:endParaRPr>
          </a:p>
        </p:txBody>
      </p:sp>
      <p:sp>
        <p:nvSpPr>
          <p:cNvPr id="200" name="Google Shape;200;p26"/>
          <p:cNvSpPr txBox="1"/>
          <p:nvPr/>
        </p:nvSpPr>
        <p:spPr>
          <a:xfrm>
            <a:off x="0" y="367375"/>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A</a:t>
            </a:r>
            <a:r>
              <a:rPr lang="fr" sz="1500">
                <a:solidFill>
                  <a:schemeClr val="dk1"/>
                </a:solidFill>
              </a:rPr>
              <a:t>) Spécification “both”</a:t>
            </a:r>
            <a:endParaRPr/>
          </a:p>
        </p:txBody>
      </p:sp>
      <p:sp>
        <p:nvSpPr>
          <p:cNvPr id="201" name="Google Shape;201;p26"/>
          <p:cNvSpPr txBox="1"/>
          <p:nvPr/>
        </p:nvSpPr>
        <p:spPr>
          <a:xfrm>
            <a:off x="54025" y="782875"/>
            <a:ext cx="6796800" cy="18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Pour continuer, dans la partie 4 et 5, il convient de noter que nous</a:t>
            </a:r>
            <a:r>
              <a:rPr lang="fr" sz="1300">
                <a:solidFill>
                  <a:schemeClr val="dk1"/>
                </a:solidFill>
              </a:rPr>
              <a:t> avons une version gratuite, donc on pourra prendre en compte uniquement 2 crises au maximum.</a:t>
            </a:r>
            <a:endParaRPr sz="1300">
              <a:solidFill>
                <a:schemeClr val="dk1"/>
              </a:solidFill>
            </a:endParaRPr>
          </a:p>
          <a:p>
            <a:pPr indent="0" lvl="0" marL="0" rtl="0" algn="l">
              <a:spcBef>
                <a:spcPts val="0"/>
              </a:spcBef>
              <a:spcAft>
                <a:spcPts val="0"/>
              </a:spcAft>
              <a:buNone/>
            </a:pPr>
            <a:r>
              <a:rPr lang="fr" sz="1300">
                <a:solidFill>
                  <a:schemeClr val="dk1"/>
                </a:solidFill>
              </a:rPr>
              <a:t>De plus, on ne choisit pas les crises, c’est le test qui les détecte détecte de lui-même.</a:t>
            </a:r>
            <a:endParaRPr sz="1300">
              <a:solidFill>
                <a:schemeClr val="dk1"/>
              </a:solidFill>
            </a:endParaRPr>
          </a:p>
          <a:p>
            <a:pPr indent="0" lvl="0" marL="0" rtl="0" algn="l">
              <a:lnSpc>
                <a:spcPct val="115000"/>
              </a:lnSpc>
              <a:spcBef>
                <a:spcPts val="150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endParaRPr>
          </a:p>
        </p:txBody>
      </p:sp>
      <p:sp>
        <p:nvSpPr>
          <p:cNvPr id="202" name="Google Shape;202;p26"/>
          <p:cNvSpPr txBox="1"/>
          <p:nvPr/>
        </p:nvSpPr>
        <p:spPr>
          <a:xfrm>
            <a:off x="54025" y="1644100"/>
            <a:ext cx="4743600" cy="76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Dans un premier temps on étudie la spécification “both”.</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fr" sz="1300">
                <a:solidFill>
                  <a:schemeClr val="dk1"/>
                </a:solidFill>
              </a:rPr>
              <a:t>On estime par les MCO:</a:t>
            </a:r>
            <a:endParaRPr sz="1300">
              <a:solidFill>
                <a:schemeClr val="dk1"/>
              </a:solidFill>
            </a:endParaRPr>
          </a:p>
        </p:txBody>
      </p:sp>
      <p:sp>
        <p:nvSpPr>
          <p:cNvPr id="203" name="Google Shape;203;p26"/>
          <p:cNvSpPr txBox="1"/>
          <p:nvPr/>
        </p:nvSpPr>
        <p:spPr>
          <a:xfrm>
            <a:off x="54025" y="3451400"/>
            <a:ext cx="5662200" cy="76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fr" sz="1300">
                <a:solidFill>
                  <a:schemeClr val="dk1"/>
                </a:solidFill>
              </a:rPr>
              <a:t>De plus pmax vaut 10 grâce à la formule de Schwert.</a:t>
            </a:r>
            <a:endParaRPr sz="1300">
              <a:solidFill>
                <a:schemeClr val="dk1"/>
              </a:solidFill>
            </a:endParaRPr>
          </a:p>
        </p:txBody>
      </p:sp>
      <p:sp>
        <p:nvSpPr>
          <p:cNvPr id="204" name="Google Shape;204;p26"/>
          <p:cNvSpPr txBox="1"/>
          <p:nvPr/>
        </p:nvSpPr>
        <p:spPr>
          <a:xfrm>
            <a:off x="172800" y="4430325"/>
            <a:ext cx="3976500" cy="110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05" name="Google Shape;205;p26"/>
          <p:cNvSpPr txBox="1"/>
          <p:nvPr/>
        </p:nvSpPr>
        <p:spPr>
          <a:xfrm>
            <a:off x="118850" y="4061725"/>
            <a:ext cx="5662200" cy="8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Rappelons que l’on a:</a:t>
            </a:r>
            <a:endParaRPr sz="1300">
              <a:solidFill>
                <a:schemeClr val="dk1"/>
              </a:solidFill>
            </a:endParaRPr>
          </a:p>
          <a:p>
            <a:pPr indent="0" lvl="0" marL="0" rtl="0" algn="l">
              <a:spcBef>
                <a:spcPts val="0"/>
              </a:spcBef>
              <a:spcAft>
                <a:spcPts val="0"/>
              </a:spcAft>
              <a:buNone/>
            </a:pPr>
            <a:r>
              <a:rPr lang="fr" sz="1300">
                <a:solidFill>
                  <a:schemeClr val="dk1"/>
                </a:solidFill>
              </a:rPr>
              <a:t>	H0: le PGD est DS</a:t>
            </a:r>
            <a:endParaRPr sz="1300">
              <a:solidFill>
                <a:schemeClr val="dk1"/>
              </a:solidFill>
            </a:endParaRPr>
          </a:p>
          <a:p>
            <a:pPr indent="0" lvl="0" marL="0" rtl="0" algn="l">
              <a:spcBef>
                <a:spcPts val="0"/>
              </a:spcBef>
              <a:spcAft>
                <a:spcPts val="0"/>
              </a:spcAft>
              <a:buNone/>
            </a:pPr>
            <a:r>
              <a:rPr lang="fr" sz="1300">
                <a:solidFill>
                  <a:schemeClr val="dk1"/>
                </a:solidFill>
              </a:rPr>
              <a:t>	Ha:  le PGD est TS avec 1 date de rupture</a:t>
            </a:r>
            <a:endParaRPr sz="1300">
              <a:solidFill>
                <a:schemeClr val="dk1"/>
              </a:solidFill>
            </a:endParaRPr>
          </a:p>
        </p:txBody>
      </p:sp>
      <p:pic>
        <p:nvPicPr>
          <p:cNvPr id="206" name="Google Shape;206;p26"/>
          <p:cNvPicPr preferRelativeResize="0"/>
          <p:nvPr/>
        </p:nvPicPr>
        <p:blipFill>
          <a:blip r:embed="rId4">
            <a:alphaModFix/>
          </a:blip>
          <a:stretch>
            <a:fillRect/>
          </a:stretch>
        </p:blipFill>
        <p:spPr>
          <a:xfrm>
            <a:off x="118850" y="2480625"/>
            <a:ext cx="8238418" cy="854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7"/>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212" name="Google Shape;212;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213" name="Google Shape;213;p27"/>
          <p:cNvSpPr txBox="1"/>
          <p:nvPr/>
        </p:nvSpPr>
        <p:spPr>
          <a:xfrm>
            <a:off x="0" y="0"/>
            <a:ext cx="4149300" cy="4464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AutoNum type="arabicParenR" startAt="4"/>
            </a:pPr>
            <a:r>
              <a:rPr b="1" lang="fr" sz="1500">
                <a:solidFill>
                  <a:schemeClr val="dk1"/>
                </a:solidFill>
              </a:rPr>
              <a:t>Test de Zivot et Andrews (test ZA) </a:t>
            </a:r>
            <a:endParaRPr sz="1600">
              <a:solidFill>
                <a:schemeClr val="dk1"/>
              </a:solidFill>
            </a:endParaRPr>
          </a:p>
        </p:txBody>
      </p:sp>
      <p:sp>
        <p:nvSpPr>
          <p:cNvPr id="214" name="Google Shape;214;p27"/>
          <p:cNvSpPr txBox="1"/>
          <p:nvPr/>
        </p:nvSpPr>
        <p:spPr>
          <a:xfrm>
            <a:off x="0" y="631600"/>
            <a:ext cx="3252600" cy="11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1"/>
              </a:solidFill>
            </a:endParaRPr>
          </a:p>
        </p:txBody>
      </p:sp>
      <p:sp>
        <p:nvSpPr>
          <p:cNvPr id="215" name="Google Shape;215;p27"/>
          <p:cNvSpPr txBox="1"/>
          <p:nvPr/>
        </p:nvSpPr>
        <p:spPr>
          <a:xfrm>
            <a:off x="3619900" y="1167475"/>
            <a:ext cx="4765200" cy="42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On observe que:</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fr" sz="1300">
                <a:solidFill>
                  <a:schemeClr val="dk1"/>
                </a:solidFill>
              </a:rPr>
              <a:t>| tvalue(gamma_10) |= 2,074 &gt; 1,6. Donc gamma_10 est significatif. </a:t>
            </a:r>
            <a:endParaRPr sz="1300">
              <a:solidFill>
                <a:schemeClr val="dk1"/>
              </a:solidFill>
            </a:endParaRPr>
          </a:p>
          <a:p>
            <a:pPr indent="0" lvl="0" marL="0" rtl="0" algn="l">
              <a:lnSpc>
                <a:spcPct val="115000"/>
              </a:lnSpc>
              <a:spcBef>
                <a:spcPts val="0"/>
              </a:spcBef>
              <a:spcAft>
                <a:spcPts val="0"/>
              </a:spcAft>
              <a:buNone/>
            </a:pPr>
            <a:r>
              <a:rPr lang="fr" sz="1300">
                <a:solidFill>
                  <a:schemeClr val="dk1"/>
                </a:solidFill>
              </a:rPr>
              <a:t>De ce fait, on enlève rien. Donc on a désormais lag = pmax </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fr" sz="1300">
                <a:solidFill>
                  <a:schemeClr val="dk1"/>
                </a:solidFill>
              </a:rPr>
              <a:t>De plus pvalue(delta_2)= 0.154774 &gt; 0,05. Ainsi delta2 n’est pas significatif. </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fr" sz="1300">
                <a:solidFill>
                  <a:schemeClr val="dk1"/>
                </a:solidFill>
              </a:rPr>
              <a:t>Donc on </a:t>
            </a:r>
            <a:r>
              <a:rPr b="1" lang="fr" sz="1300">
                <a:solidFill>
                  <a:schemeClr val="dk1"/>
                </a:solidFill>
              </a:rPr>
              <a:t>passe à la spécification "intercept".</a:t>
            </a:r>
            <a:endParaRPr b="1"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16" name="Google Shape;216;p27"/>
          <p:cNvSpPr txBox="1"/>
          <p:nvPr/>
        </p:nvSpPr>
        <p:spPr>
          <a:xfrm>
            <a:off x="0" y="29175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A) Spécification “both”</a:t>
            </a:r>
            <a:endParaRPr/>
          </a:p>
        </p:txBody>
      </p:sp>
      <p:pic>
        <p:nvPicPr>
          <p:cNvPr id="217" name="Google Shape;217;p27"/>
          <p:cNvPicPr preferRelativeResize="0"/>
          <p:nvPr/>
        </p:nvPicPr>
        <p:blipFill>
          <a:blip r:embed="rId4">
            <a:alphaModFix/>
          </a:blip>
          <a:stretch>
            <a:fillRect/>
          </a:stretch>
        </p:blipFill>
        <p:spPr>
          <a:xfrm>
            <a:off x="0" y="707250"/>
            <a:ext cx="3532551" cy="44362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8"/>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223" name="Google Shape;22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224" name="Google Shape;224;p28"/>
          <p:cNvSpPr txBox="1"/>
          <p:nvPr/>
        </p:nvSpPr>
        <p:spPr>
          <a:xfrm>
            <a:off x="0" y="0"/>
            <a:ext cx="4149300" cy="4464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AutoNum type="arabicParenR" startAt="4"/>
            </a:pPr>
            <a:r>
              <a:rPr b="1" lang="fr" sz="1500">
                <a:solidFill>
                  <a:schemeClr val="dk1"/>
                </a:solidFill>
              </a:rPr>
              <a:t>Test de Zivot et Andrews (test ZA) </a:t>
            </a:r>
            <a:endParaRPr sz="1600">
              <a:solidFill>
                <a:schemeClr val="dk1"/>
              </a:solidFill>
            </a:endParaRPr>
          </a:p>
        </p:txBody>
      </p:sp>
      <p:sp>
        <p:nvSpPr>
          <p:cNvPr id="225" name="Google Shape;225;p28"/>
          <p:cNvSpPr txBox="1"/>
          <p:nvPr/>
        </p:nvSpPr>
        <p:spPr>
          <a:xfrm>
            <a:off x="-75625" y="659125"/>
            <a:ext cx="8893200" cy="425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300">
              <a:solidFill>
                <a:schemeClr val="dk1"/>
              </a:solidFill>
            </a:endParaRPr>
          </a:p>
          <a:p>
            <a:pPr indent="0" lvl="0" marL="0" rtl="0" algn="l">
              <a:spcBef>
                <a:spcPts val="0"/>
              </a:spcBef>
              <a:spcAft>
                <a:spcPts val="0"/>
              </a:spcAft>
              <a:buNone/>
            </a:pPr>
            <a:r>
              <a:t/>
            </a:r>
            <a:endParaRPr sz="1300">
              <a:solidFill>
                <a:schemeClr val="dk1"/>
              </a:solidFill>
            </a:endParaRPr>
          </a:p>
        </p:txBody>
      </p:sp>
      <p:sp>
        <p:nvSpPr>
          <p:cNvPr id="226" name="Google Shape;226;p28"/>
          <p:cNvSpPr txBox="1"/>
          <p:nvPr/>
        </p:nvSpPr>
        <p:spPr>
          <a:xfrm>
            <a:off x="0" y="367375"/>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B</a:t>
            </a:r>
            <a:r>
              <a:rPr lang="fr" sz="1500">
                <a:solidFill>
                  <a:schemeClr val="dk1"/>
                </a:solidFill>
              </a:rPr>
              <a:t>) Spécification “intercept”</a:t>
            </a:r>
            <a:endParaRPr/>
          </a:p>
        </p:txBody>
      </p:sp>
      <p:sp>
        <p:nvSpPr>
          <p:cNvPr id="227" name="Google Shape;227;p28"/>
          <p:cNvSpPr txBox="1"/>
          <p:nvPr/>
        </p:nvSpPr>
        <p:spPr>
          <a:xfrm>
            <a:off x="54025" y="782875"/>
            <a:ext cx="6796800" cy="18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1"/>
              </a:solidFill>
            </a:endParaRPr>
          </a:p>
          <a:p>
            <a:pPr indent="0" lvl="0" marL="0" rtl="0" algn="l">
              <a:lnSpc>
                <a:spcPct val="115000"/>
              </a:lnSpc>
              <a:spcBef>
                <a:spcPts val="1500"/>
              </a:spcBef>
              <a:spcAft>
                <a:spcPts val="0"/>
              </a:spcAft>
              <a:buNone/>
            </a:pPr>
            <a:r>
              <a:t/>
            </a:r>
            <a:endParaRPr sz="1200">
              <a:solidFill>
                <a:srgbClr val="374151"/>
              </a:solidFill>
              <a:latin typeface="Roboto"/>
              <a:ea typeface="Roboto"/>
              <a:cs typeface="Roboto"/>
              <a:sym typeface="Roboto"/>
            </a:endParaRPr>
          </a:p>
          <a:p>
            <a:pPr indent="0" lvl="0" marL="0" rtl="0" algn="l">
              <a:spcBef>
                <a:spcPts val="0"/>
              </a:spcBef>
              <a:spcAft>
                <a:spcPts val="0"/>
              </a:spcAft>
              <a:buNone/>
            </a:pPr>
            <a:r>
              <a:t/>
            </a:r>
            <a:endParaRPr sz="1200">
              <a:solidFill>
                <a:srgbClr val="374151"/>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endParaRPr>
          </a:p>
        </p:txBody>
      </p:sp>
      <p:sp>
        <p:nvSpPr>
          <p:cNvPr id="228" name="Google Shape;228;p28"/>
          <p:cNvSpPr txBox="1"/>
          <p:nvPr/>
        </p:nvSpPr>
        <p:spPr>
          <a:xfrm>
            <a:off x="54025" y="1073025"/>
            <a:ext cx="4873200" cy="76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Dans un second temps on étudie la spécification “intercept”.</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fr" sz="1300">
                <a:solidFill>
                  <a:schemeClr val="dk1"/>
                </a:solidFill>
              </a:rPr>
              <a:t>On estime désormais:</a:t>
            </a:r>
            <a:endParaRPr sz="1300">
              <a:solidFill>
                <a:schemeClr val="dk1"/>
              </a:solidFill>
            </a:endParaRPr>
          </a:p>
        </p:txBody>
      </p:sp>
      <p:sp>
        <p:nvSpPr>
          <p:cNvPr id="229" name="Google Shape;229;p28"/>
          <p:cNvSpPr txBox="1"/>
          <p:nvPr/>
        </p:nvSpPr>
        <p:spPr>
          <a:xfrm>
            <a:off x="216100" y="3425400"/>
            <a:ext cx="3976500" cy="110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230" name="Google Shape;230;p28"/>
          <p:cNvPicPr preferRelativeResize="0"/>
          <p:nvPr/>
        </p:nvPicPr>
        <p:blipFill>
          <a:blip r:embed="rId4">
            <a:alphaModFix/>
          </a:blip>
          <a:stretch>
            <a:fillRect/>
          </a:stretch>
        </p:blipFill>
        <p:spPr>
          <a:xfrm>
            <a:off x="54025" y="1969001"/>
            <a:ext cx="8104251" cy="9343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29"/>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236" name="Google Shape;23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237" name="Google Shape;237;p29"/>
          <p:cNvSpPr txBox="1"/>
          <p:nvPr/>
        </p:nvSpPr>
        <p:spPr>
          <a:xfrm>
            <a:off x="0" y="0"/>
            <a:ext cx="4149300" cy="4464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AutoNum type="arabicParenR" startAt="4"/>
            </a:pPr>
            <a:r>
              <a:rPr b="1" lang="fr" sz="1500">
                <a:solidFill>
                  <a:schemeClr val="dk1"/>
                </a:solidFill>
              </a:rPr>
              <a:t>Test de Zivot et Andrews (test ZA) </a:t>
            </a:r>
            <a:endParaRPr sz="1600">
              <a:solidFill>
                <a:schemeClr val="dk1"/>
              </a:solidFill>
            </a:endParaRPr>
          </a:p>
        </p:txBody>
      </p:sp>
      <p:sp>
        <p:nvSpPr>
          <p:cNvPr id="238" name="Google Shape;238;p29"/>
          <p:cNvSpPr txBox="1"/>
          <p:nvPr/>
        </p:nvSpPr>
        <p:spPr>
          <a:xfrm>
            <a:off x="0" y="6807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39" name="Google Shape;239;p29"/>
          <p:cNvSpPr txBox="1"/>
          <p:nvPr/>
        </p:nvSpPr>
        <p:spPr>
          <a:xfrm>
            <a:off x="3913800" y="81550"/>
            <a:ext cx="5230200" cy="412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1300">
                <a:solidFill>
                  <a:schemeClr val="dk1"/>
                </a:solidFill>
              </a:rPr>
              <a:t>On observe que:</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pvalue (delta1) = 0.0021 &lt; 0,05. Donc delta1 est significatif.</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observe une date de rupture </a:t>
            </a:r>
            <a:r>
              <a:rPr b="1" lang="fr" sz="1300">
                <a:solidFill>
                  <a:schemeClr val="dk1"/>
                </a:solidFill>
              </a:rPr>
              <a:t>en 2000</a:t>
            </a:r>
            <a:r>
              <a:rPr lang="fr" sz="1300">
                <a:solidFill>
                  <a:schemeClr val="dk1"/>
                </a:solidFill>
              </a:rPr>
              <a:t> (car elle est en position 29).</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observe un pic en position 29 dans le graphe ci-dessous.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De plus, t_calculé = -3.603  &gt; valeur_critique(5%) = -4,8</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Donc on accepte H0 et </a:t>
            </a:r>
            <a:r>
              <a:rPr b="1" lang="fr" sz="1300">
                <a:solidFill>
                  <a:schemeClr val="dk1"/>
                </a:solidFill>
              </a:rPr>
              <a:t>on en conclut que le PGD </a:t>
            </a:r>
            <a:r>
              <a:rPr b="1" lang="fr" sz="1300">
                <a:solidFill>
                  <a:schemeClr val="dk1"/>
                </a:solidFill>
              </a:rPr>
              <a:t>qui a généré le Pétrole est DS.</a:t>
            </a:r>
            <a:endParaRPr b="1" sz="13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240" name="Google Shape;240;p29"/>
          <p:cNvSpPr txBox="1"/>
          <p:nvPr/>
        </p:nvSpPr>
        <p:spPr>
          <a:xfrm>
            <a:off x="0" y="319275"/>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B</a:t>
            </a:r>
            <a:r>
              <a:rPr lang="fr" sz="1500">
                <a:solidFill>
                  <a:schemeClr val="dk1"/>
                </a:solidFill>
              </a:rPr>
              <a:t>) Spécification “intercept”</a:t>
            </a:r>
            <a:endParaRPr/>
          </a:p>
        </p:txBody>
      </p:sp>
      <p:pic>
        <p:nvPicPr>
          <p:cNvPr id="241" name="Google Shape;241;p29"/>
          <p:cNvPicPr preferRelativeResize="0"/>
          <p:nvPr/>
        </p:nvPicPr>
        <p:blipFill>
          <a:blip r:embed="rId4">
            <a:alphaModFix/>
          </a:blip>
          <a:stretch>
            <a:fillRect/>
          </a:stretch>
        </p:blipFill>
        <p:spPr>
          <a:xfrm>
            <a:off x="0" y="734775"/>
            <a:ext cx="3692650" cy="4408726"/>
          </a:xfrm>
          <a:prstGeom prst="rect">
            <a:avLst/>
          </a:prstGeom>
          <a:noFill/>
          <a:ln>
            <a:noFill/>
          </a:ln>
        </p:spPr>
      </p:pic>
      <p:pic>
        <p:nvPicPr>
          <p:cNvPr id="242" name="Google Shape;242;p29"/>
          <p:cNvPicPr preferRelativeResize="0"/>
          <p:nvPr/>
        </p:nvPicPr>
        <p:blipFill>
          <a:blip r:embed="rId5">
            <a:alphaModFix/>
          </a:blip>
          <a:stretch>
            <a:fillRect/>
          </a:stretch>
        </p:blipFill>
        <p:spPr>
          <a:xfrm>
            <a:off x="3692650" y="2474500"/>
            <a:ext cx="4989251" cy="26689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30"/>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248" name="Google Shape;24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249" name="Google Shape;249;p30"/>
          <p:cNvSpPr txBox="1"/>
          <p:nvPr/>
        </p:nvSpPr>
        <p:spPr>
          <a:xfrm>
            <a:off x="0" y="0"/>
            <a:ext cx="4149300" cy="4464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AutoNum type="arabicParenR" startAt="4"/>
            </a:pPr>
            <a:r>
              <a:rPr b="1" lang="fr" sz="1500">
                <a:solidFill>
                  <a:schemeClr val="dk1"/>
                </a:solidFill>
              </a:rPr>
              <a:t>Test de Zivot et Andrews (test ZA) </a:t>
            </a:r>
            <a:endParaRPr sz="1600">
              <a:solidFill>
                <a:schemeClr val="dk1"/>
              </a:solidFill>
            </a:endParaRPr>
          </a:p>
        </p:txBody>
      </p:sp>
      <p:sp>
        <p:nvSpPr>
          <p:cNvPr id="250" name="Google Shape;250;p30"/>
          <p:cNvSpPr txBox="1"/>
          <p:nvPr/>
        </p:nvSpPr>
        <p:spPr>
          <a:xfrm>
            <a:off x="0" y="6807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51" name="Google Shape;251;p30"/>
          <p:cNvSpPr txBox="1"/>
          <p:nvPr/>
        </p:nvSpPr>
        <p:spPr>
          <a:xfrm>
            <a:off x="250675" y="1015800"/>
            <a:ext cx="7734600" cy="412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La sécheresse qui a sévi en Thaïlande en </a:t>
            </a:r>
            <a:r>
              <a:rPr b="1" lang="fr" sz="1300">
                <a:solidFill>
                  <a:schemeClr val="dk1"/>
                </a:solidFill>
              </a:rPr>
              <a:t>2000</a:t>
            </a:r>
            <a:r>
              <a:rPr lang="fr" sz="1300">
                <a:solidFill>
                  <a:schemeClr val="dk1"/>
                </a:solidFill>
              </a:rPr>
              <a:t> a été un événement qui a influencé une crise dans la production de pétrole. La sécheresse a entraîné une baisse du niveau d'eau dans les réservoirs, ce qui a rendu difficile l'extraction de pétrole brut dans les champs. Cela a entraîné une réduction de la production de pétrole. De plus, le transport du pétrole a également été affecté, car les niveaux d'eau plus bas dans les rivières et les canaux ont rendu plus difficile le transport du pétrole des sites de production vers les raffineries et les centres de distribution. La crise a été aggravée par une augmentation de la demande de produits pétroliers, à la fois sur les marchés intérieurs et extérieurs, pendant cette période.</a:t>
            </a:r>
            <a:endParaRPr b="1">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252" name="Google Shape;252;p30"/>
          <p:cNvSpPr txBox="1"/>
          <p:nvPr/>
        </p:nvSpPr>
        <p:spPr>
          <a:xfrm>
            <a:off x="0" y="319275"/>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B) Spécification “intercept”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31"/>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258" name="Google Shape;25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259" name="Google Shape;259;p31"/>
          <p:cNvSpPr txBox="1"/>
          <p:nvPr/>
        </p:nvSpPr>
        <p:spPr>
          <a:xfrm>
            <a:off x="0" y="0"/>
            <a:ext cx="61593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5"/>
            </a:pPr>
            <a:r>
              <a:rPr b="1" lang="fr" sz="1500">
                <a:solidFill>
                  <a:schemeClr val="dk1"/>
                </a:solidFill>
              </a:rPr>
              <a:t>Test de Lee et Strazicich avec bootstrap(test LS)</a:t>
            </a:r>
            <a:endParaRPr sz="1600"/>
          </a:p>
        </p:txBody>
      </p:sp>
      <p:sp>
        <p:nvSpPr>
          <p:cNvPr id="260" name="Google Shape;260;p31"/>
          <p:cNvSpPr txBox="1"/>
          <p:nvPr/>
        </p:nvSpPr>
        <p:spPr>
          <a:xfrm>
            <a:off x="0" y="29175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A) Avec 1 date de rupture</a:t>
            </a:r>
            <a:endParaRPr/>
          </a:p>
        </p:txBody>
      </p:sp>
      <p:sp>
        <p:nvSpPr>
          <p:cNvPr id="261" name="Google Shape;261;p31"/>
          <p:cNvSpPr txBox="1"/>
          <p:nvPr/>
        </p:nvSpPr>
        <p:spPr>
          <a:xfrm>
            <a:off x="237725" y="918475"/>
            <a:ext cx="3652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1"/>
              </a:solidFill>
            </a:endParaRPr>
          </a:p>
        </p:txBody>
      </p:sp>
      <p:sp>
        <p:nvSpPr>
          <p:cNvPr id="262" name="Google Shape;262;p31"/>
          <p:cNvSpPr txBox="1"/>
          <p:nvPr/>
        </p:nvSpPr>
        <p:spPr>
          <a:xfrm>
            <a:off x="183675" y="3317200"/>
            <a:ext cx="8190600" cy="199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300">
                <a:solidFill>
                  <a:schemeClr val="dk1"/>
                </a:solidFill>
              </a:rPr>
              <a:t>On estime alors par MCO, sous Ha (voir page 20 la définition de Ha):</a:t>
            </a:r>
            <a:endParaRPr sz="1300">
              <a:solidFill>
                <a:schemeClr val="dk1"/>
              </a:solidFill>
            </a:endParaRPr>
          </a:p>
        </p:txBody>
      </p:sp>
      <p:sp>
        <p:nvSpPr>
          <p:cNvPr id="263" name="Google Shape;263;p31"/>
          <p:cNvSpPr txBox="1"/>
          <p:nvPr/>
        </p:nvSpPr>
        <p:spPr>
          <a:xfrm>
            <a:off x="108050" y="821225"/>
            <a:ext cx="7250700" cy="60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300">
                <a:solidFill>
                  <a:schemeClr val="dk1"/>
                </a:solidFill>
              </a:rPr>
              <a:t>On étudie la spécification “crash” car on a étudié la spécification “intercept” avec le test ZA. On fait du bootstrap car il y a seulement 50 observations (entre 1971 et 2021).</a:t>
            </a:r>
            <a:endParaRPr sz="1800">
              <a:solidFill>
                <a:schemeClr val="dk2"/>
              </a:solidFill>
            </a:endParaRPr>
          </a:p>
        </p:txBody>
      </p:sp>
      <p:sp>
        <p:nvSpPr>
          <p:cNvPr id="264" name="Google Shape;264;p31"/>
          <p:cNvSpPr txBox="1"/>
          <p:nvPr/>
        </p:nvSpPr>
        <p:spPr>
          <a:xfrm>
            <a:off x="183675" y="1559925"/>
            <a:ext cx="5403000" cy="35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On estime alors par MCO, sous H0 (</a:t>
            </a:r>
            <a:r>
              <a:rPr lang="fr" sz="1300">
                <a:solidFill>
                  <a:schemeClr val="dk1"/>
                </a:solidFill>
              </a:rPr>
              <a:t>voir page 20 la définition de H0)</a:t>
            </a:r>
            <a:r>
              <a:rPr lang="fr" sz="1300">
                <a:solidFill>
                  <a:schemeClr val="dk1"/>
                </a:solidFill>
              </a:rPr>
              <a:t>:</a:t>
            </a:r>
            <a:endParaRPr sz="1300">
              <a:solidFill>
                <a:schemeClr val="dk1"/>
              </a:solidFill>
            </a:endParaRPr>
          </a:p>
        </p:txBody>
      </p:sp>
      <p:pic>
        <p:nvPicPr>
          <p:cNvPr id="265" name="Google Shape;265;p31"/>
          <p:cNvPicPr preferRelativeResize="0"/>
          <p:nvPr/>
        </p:nvPicPr>
        <p:blipFill>
          <a:blip r:embed="rId4">
            <a:alphaModFix/>
          </a:blip>
          <a:stretch>
            <a:fillRect/>
          </a:stretch>
        </p:blipFill>
        <p:spPr>
          <a:xfrm>
            <a:off x="183675" y="1932875"/>
            <a:ext cx="5910725" cy="1186250"/>
          </a:xfrm>
          <a:prstGeom prst="rect">
            <a:avLst/>
          </a:prstGeom>
          <a:noFill/>
          <a:ln>
            <a:noFill/>
          </a:ln>
        </p:spPr>
      </p:pic>
      <p:pic>
        <p:nvPicPr>
          <p:cNvPr id="266" name="Google Shape;266;p31"/>
          <p:cNvPicPr preferRelativeResize="0"/>
          <p:nvPr/>
        </p:nvPicPr>
        <p:blipFill>
          <a:blip r:embed="rId5">
            <a:alphaModFix/>
          </a:blip>
          <a:stretch>
            <a:fillRect/>
          </a:stretch>
        </p:blipFill>
        <p:spPr>
          <a:xfrm>
            <a:off x="237725" y="3767875"/>
            <a:ext cx="6429376" cy="823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32"/>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272" name="Google Shape;272;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273" name="Google Shape;273;p32"/>
          <p:cNvSpPr txBox="1"/>
          <p:nvPr/>
        </p:nvSpPr>
        <p:spPr>
          <a:xfrm>
            <a:off x="0" y="0"/>
            <a:ext cx="40521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5"/>
            </a:pPr>
            <a:r>
              <a:rPr b="1" lang="fr" sz="1500">
                <a:solidFill>
                  <a:schemeClr val="dk1"/>
                </a:solidFill>
              </a:rPr>
              <a:t>Test de Lee et Strazicich (test LS)</a:t>
            </a:r>
            <a:endParaRPr sz="1600"/>
          </a:p>
        </p:txBody>
      </p:sp>
      <p:sp>
        <p:nvSpPr>
          <p:cNvPr id="274" name="Google Shape;274;p32"/>
          <p:cNvSpPr txBox="1"/>
          <p:nvPr/>
        </p:nvSpPr>
        <p:spPr>
          <a:xfrm>
            <a:off x="0" y="29175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A) Avec 1 date de rupture</a:t>
            </a:r>
            <a:endParaRPr/>
          </a:p>
        </p:txBody>
      </p:sp>
      <p:sp>
        <p:nvSpPr>
          <p:cNvPr id="275" name="Google Shape;275;p32"/>
          <p:cNvSpPr txBox="1"/>
          <p:nvPr/>
        </p:nvSpPr>
        <p:spPr>
          <a:xfrm>
            <a:off x="237725" y="918475"/>
            <a:ext cx="3652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1"/>
              </a:solidFill>
            </a:endParaRPr>
          </a:p>
        </p:txBody>
      </p:sp>
      <p:sp>
        <p:nvSpPr>
          <p:cNvPr id="276" name="Google Shape;276;p32"/>
          <p:cNvSpPr txBox="1"/>
          <p:nvPr/>
        </p:nvSpPr>
        <p:spPr>
          <a:xfrm>
            <a:off x="54025" y="3057625"/>
            <a:ext cx="8190600" cy="199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fr" sz="1300">
                <a:solidFill>
                  <a:schemeClr val="dk1"/>
                </a:solidFill>
              </a:rPr>
              <a:t>On a t_calculé= -3,5517 &gt; valeur_critique(5%) = -3,566. Ainsi, on accepte H0.</a:t>
            </a:r>
            <a:endParaRPr sz="1300">
              <a:solidFill>
                <a:schemeClr val="dk1"/>
              </a:solidFill>
            </a:endParaRPr>
          </a:p>
          <a:p>
            <a:pPr indent="0" lvl="0" marL="0" rtl="0" algn="l">
              <a:spcBef>
                <a:spcPts val="0"/>
              </a:spcBef>
              <a:spcAft>
                <a:spcPts val="0"/>
              </a:spcAft>
              <a:buNone/>
            </a:pPr>
            <a:r>
              <a:rPr lang="fr" sz="1300">
                <a:solidFill>
                  <a:schemeClr val="dk1"/>
                </a:solidFill>
              </a:rPr>
              <a:t>On trouve 1 point de rupture (1 changement structurel) en </a:t>
            </a:r>
            <a:r>
              <a:rPr b="1" lang="fr" sz="1300">
                <a:solidFill>
                  <a:schemeClr val="dk1"/>
                </a:solidFill>
              </a:rPr>
              <a:t>2011</a:t>
            </a:r>
            <a:r>
              <a:rPr lang="fr" sz="1300">
                <a:solidFill>
                  <a:schemeClr val="dk1"/>
                </a:solidFill>
              </a:rPr>
              <a:t>.</a:t>
            </a:r>
            <a:endParaRPr sz="1800">
              <a:solidFill>
                <a:schemeClr val="dk2"/>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fr" sz="1300">
                <a:solidFill>
                  <a:schemeClr val="dk1"/>
                </a:solidFill>
              </a:rPr>
              <a:t>Donc le </a:t>
            </a:r>
            <a:r>
              <a:rPr b="1" lang="fr" sz="1300">
                <a:solidFill>
                  <a:schemeClr val="dk1"/>
                </a:solidFill>
              </a:rPr>
              <a:t>PGD </a:t>
            </a:r>
            <a:r>
              <a:rPr b="1" lang="fr" sz="1300">
                <a:solidFill>
                  <a:schemeClr val="dk1"/>
                </a:solidFill>
              </a:rPr>
              <a:t>qui a généré le Pétrole e</a:t>
            </a:r>
            <a:r>
              <a:rPr b="1" lang="fr" sz="1300">
                <a:solidFill>
                  <a:schemeClr val="dk1"/>
                </a:solidFill>
              </a:rPr>
              <a:t>st DS avec 1 date de rupture </a:t>
            </a:r>
            <a:r>
              <a:rPr lang="fr" sz="1300">
                <a:solidFill>
                  <a:schemeClr val="dk1"/>
                </a:solidFill>
              </a:rPr>
              <a:t>.</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fr" sz="1300">
                <a:solidFill>
                  <a:schemeClr val="dk1"/>
                </a:solidFill>
              </a:rPr>
              <a:t>Rappelons que l’on a:</a:t>
            </a:r>
            <a:endParaRPr sz="1300">
              <a:solidFill>
                <a:schemeClr val="dk1"/>
              </a:solidFill>
            </a:endParaRPr>
          </a:p>
          <a:p>
            <a:pPr indent="0" lvl="0" marL="0" rtl="0" algn="l">
              <a:spcBef>
                <a:spcPts val="0"/>
              </a:spcBef>
              <a:spcAft>
                <a:spcPts val="0"/>
              </a:spcAft>
              <a:buNone/>
            </a:pPr>
            <a:r>
              <a:rPr lang="fr" sz="1300">
                <a:solidFill>
                  <a:schemeClr val="dk1"/>
                </a:solidFill>
              </a:rPr>
              <a:t>	H0:  le PGD est DS avec 1 date</a:t>
            </a:r>
            <a:r>
              <a:rPr lang="fr" sz="1300">
                <a:solidFill>
                  <a:schemeClr val="dk1"/>
                </a:solidFill>
              </a:rPr>
              <a:t> </a:t>
            </a:r>
            <a:r>
              <a:rPr lang="fr" sz="1300">
                <a:solidFill>
                  <a:schemeClr val="dk1"/>
                </a:solidFill>
              </a:rPr>
              <a:t>de rupture</a:t>
            </a:r>
            <a:endParaRPr sz="1300">
              <a:solidFill>
                <a:schemeClr val="dk1"/>
              </a:solidFill>
            </a:endParaRPr>
          </a:p>
          <a:p>
            <a:pPr indent="0" lvl="0" marL="0" rtl="0" algn="l">
              <a:spcBef>
                <a:spcPts val="0"/>
              </a:spcBef>
              <a:spcAft>
                <a:spcPts val="0"/>
              </a:spcAft>
              <a:buNone/>
            </a:pPr>
            <a:r>
              <a:rPr lang="fr" sz="1300">
                <a:solidFill>
                  <a:schemeClr val="dk1"/>
                </a:solidFill>
              </a:rPr>
              <a:t>	Ha:  le PGD est TS avec 1 date</a:t>
            </a:r>
            <a:r>
              <a:rPr lang="fr" sz="1300">
                <a:solidFill>
                  <a:schemeClr val="dk1"/>
                </a:solidFill>
              </a:rPr>
              <a:t> </a:t>
            </a:r>
            <a:r>
              <a:rPr lang="fr" sz="1300">
                <a:solidFill>
                  <a:schemeClr val="dk1"/>
                </a:solidFill>
              </a:rPr>
              <a:t>de rupture</a:t>
            </a:r>
            <a:endParaRPr sz="1800">
              <a:solidFill>
                <a:schemeClr val="dk2"/>
              </a:solidFill>
            </a:endParaRPr>
          </a:p>
        </p:txBody>
      </p:sp>
      <p:pic>
        <p:nvPicPr>
          <p:cNvPr id="277" name="Google Shape;277;p32"/>
          <p:cNvPicPr preferRelativeResize="0"/>
          <p:nvPr/>
        </p:nvPicPr>
        <p:blipFill>
          <a:blip r:embed="rId4">
            <a:alphaModFix/>
          </a:blip>
          <a:stretch>
            <a:fillRect/>
          </a:stretch>
        </p:blipFill>
        <p:spPr>
          <a:xfrm>
            <a:off x="0" y="772073"/>
            <a:ext cx="6461801" cy="2381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33"/>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283" name="Google Shape;28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284" name="Google Shape;284;p33"/>
          <p:cNvSpPr txBox="1"/>
          <p:nvPr/>
        </p:nvSpPr>
        <p:spPr>
          <a:xfrm>
            <a:off x="0" y="0"/>
            <a:ext cx="40521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5"/>
            </a:pPr>
            <a:r>
              <a:rPr b="1" lang="fr" sz="1500">
                <a:solidFill>
                  <a:schemeClr val="dk1"/>
                </a:solidFill>
              </a:rPr>
              <a:t>Test de Lee et Strazicich (test LS)</a:t>
            </a:r>
            <a:endParaRPr sz="1600"/>
          </a:p>
        </p:txBody>
      </p:sp>
      <p:sp>
        <p:nvSpPr>
          <p:cNvPr id="285" name="Google Shape;285;p33"/>
          <p:cNvSpPr txBox="1"/>
          <p:nvPr/>
        </p:nvSpPr>
        <p:spPr>
          <a:xfrm>
            <a:off x="0" y="29175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B</a:t>
            </a:r>
            <a:r>
              <a:rPr lang="fr" sz="1500">
                <a:solidFill>
                  <a:schemeClr val="dk1"/>
                </a:solidFill>
              </a:rPr>
              <a:t>) Avec 2 dates de rupture</a:t>
            </a:r>
            <a:endParaRPr/>
          </a:p>
        </p:txBody>
      </p:sp>
      <p:sp>
        <p:nvSpPr>
          <p:cNvPr id="286" name="Google Shape;286;p33"/>
          <p:cNvSpPr txBox="1"/>
          <p:nvPr/>
        </p:nvSpPr>
        <p:spPr>
          <a:xfrm>
            <a:off x="5424450" y="450"/>
            <a:ext cx="3719400" cy="51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On étudie la spécification “crash” car on a étudié la spécification “intercept” avec le test ZA.</a:t>
            </a:r>
            <a:endParaRPr sz="1300">
              <a:solidFill>
                <a:schemeClr val="dk1"/>
              </a:solidFill>
            </a:endParaRPr>
          </a:p>
          <a:p>
            <a:pPr indent="0" lvl="0" marL="0" rtl="0" algn="l">
              <a:spcBef>
                <a:spcPts val="0"/>
              </a:spcBef>
              <a:spcAft>
                <a:spcPts val="0"/>
              </a:spcAft>
              <a:buClr>
                <a:schemeClr val="dk1"/>
              </a:buClr>
              <a:buSzPts val="1100"/>
              <a:buFont typeface="Arial"/>
              <a:buNone/>
            </a:pPr>
            <a:r>
              <a:rPr lang="fr" sz="1300">
                <a:solidFill>
                  <a:schemeClr val="dk1"/>
                </a:solidFill>
              </a:rPr>
              <a:t>On trouve 2 points de rupture (2 changements </a:t>
            </a:r>
            <a:r>
              <a:rPr lang="fr" sz="1300">
                <a:solidFill>
                  <a:schemeClr val="dk1"/>
                </a:solidFill>
              </a:rPr>
              <a:t>structurels</a:t>
            </a:r>
            <a:r>
              <a:rPr lang="fr" sz="1300">
                <a:solidFill>
                  <a:schemeClr val="dk1"/>
                </a:solidFill>
              </a:rPr>
              <a:t>):</a:t>
            </a:r>
            <a:endParaRPr sz="1300">
              <a:solidFill>
                <a:schemeClr val="dk1"/>
              </a:solidFill>
            </a:endParaRPr>
          </a:p>
          <a:p>
            <a:pPr indent="0" lvl="0" marL="0" rtl="0" algn="l">
              <a:spcBef>
                <a:spcPts val="0"/>
              </a:spcBef>
              <a:spcAft>
                <a:spcPts val="0"/>
              </a:spcAft>
              <a:buClr>
                <a:schemeClr val="dk1"/>
              </a:buClr>
              <a:buSzPts val="1100"/>
              <a:buFont typeface="Arial"/>
              <a:buNone/>
            </a:pPr>
            <a:r>
              <a:rPr lang="fr" sz="1300">
                <a:solidFill>
                  <a:schemeClr val="dk1"/>
                </a:solidFill>
              </a:rPr>
              <a:t>Un en </a:t>
            </a:r>
            <a:r>
              <a:rPr b="1" lang="fr" sz="1300">
                <a:solidFill>
                  <a:schemeClr val="dk1"/>
                </a:solidFill>
              </a:rPr>
              <a:t>2011</a:t>
            </a:r>
            <a:r>
              <a:rPr lang="fr" sz="1300">
                <a:solidFill>
                  <a:schemeClr val="dk1"/>
                </a:solidFill>
              </a:rPr>
              <a:t> et un en </a:t>
            </a:r>
            <a:r>
              <a:rPr b="1" lang="fr" sz="1300">
                <a:solidFill>
                  <a:schemeClr val="dk1"/>
                </a:solidFill>
              </a:rPr>
              <a:t>2016</a:t>
            </a:r>
            <a:endParaRPr b="1"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fr" sz="1300">
                <a:solidFill>
                  <a:schemeClr val="dk1"/>
                </a:solidFill>
              </a:rPr>
              <a:t>En effet, lambda_1 estimé est à 0,8 ce qui donne T_B1 = 40, ce qui représente 2011.</a:t>
            </a:r>
            <a:endParaRPr sz="1300">
              <a:solidFill>
                <a:schemeClr val="dk1"/>
              </a:solidFill>
            </a:endParaRPr>
          </a:p>
          <a:p>
            <a:pPr indent="0" lvl="0" marL="0" rtl="0" algn="l">
              <a:spcBef>
                <a:spcPts val="0"/>
              </a:spcBef>
              <a:spcAft>
                <a:spcPts val="0"/>
              </a:spcAft>
              <a:buNone/>
            </a:pPr>
            <a:r>
              <a:rPr lang="fr" sz="1300">
                <a:solidFill>
                  <a:schemeClr val="dk1"/>
                </a:solidFill>
              </a:rPr>
              <a:t>La valeur critique break1 a pour valeur 0,6.</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fr" sz="1300">
                <a:solidFill>
                  <a:schemeClr val="dk1"/>
                </a:solidFill>
              </a:rPr>
              <a:t>De plus, lambda2 estimé est à 0,9 ce qui donne T_B2 = 45 donc représente 2016.</a:t>
            </a:r>
            <a:endParaRPr sz="1300">
              <a:solidFill>
                <a:schemeClr val="dk1"/>
              </a:solidFill>
            </a:endParaRPr>
          </a:p>
          <a:p>
            <a:pPr indent="0" lvl="0" marL="0" rtl="0" algn="l">
              <a:spcBef>
                <a:spcPts val="0"/>
              </a:spcBef>
              <a:spcAft>
                <a:spcPts val="0"/>
              </a:spcAft>
              <a:buNone/>
            </a:pPr>
            <a:r>
              <a:rPr lang="fr" sz="1300">
                <a:solidFill>
                  <a:schemeClr val="dk1"/>
                </a:solidFill>
              </a:rPr>
              <a:t>La valeur critique est lue dans la colonne break2, valeur 0,8.</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fr" sz="1300">
                <a:solidFill>
                  <a:schemeClr val="dk1"/>
                </a:solidFill>
              </a:rPr>
              <a:t>A l'intersection à 5% on trouve donc valeur_critique(5%) = -5,73</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fr" sz="1300">
                <a:solidFill>
                  <a:schemeClr val="dk1"/>
                </a:solidFill>
              </a:rPr>
              <a:t>t_calculé = -3,9594 &gt; valeur_critique(5%) = -5,73</a:t>
            </a:r>
            <a:endParaRPr sz="1300">
              <a:solidFill>
                <a:schemeClr val="dk1"/>
              </a:solidFill>
            </a:endParaRPr>
          </a:p>
          <a:p>
            <a:pPr indent="0" lvl="0" marL="0" rtl="0" algn="l">
              <a:spcBef>
                <a:spcPts val="0"/>
              </a:spcBef>
              <a:spcAft>
                <a:spcPts val="0"/>
              </a:spcAft>
              <a:buNone/>
            </a:pPr>
            <a:r>
              <a:rPr lang="fr" sz="1300">
                <a:solidFill>
                  <a:schemeClr val="dk1"/>
                </a:solidFill>
              </a:rPr>
              <a:t>Ainsi on accepte H0.</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fr" sz="1300">
                <a:solidFill>
                  <a:schemeClr val="dk1"/>
                </a:solidFill>
              </a:rPr>
              <a:t>Donc, le </a:t>
            </a:r>
            <a:r>
              <a:rPr b="1" lang="fr" sz="1300">
                <a:solidFill>
                  <a:schemeClr val="dk1"/>
                </a:solidFill>
              </a:rPr>
              <a:t>PGD </a:t>
            </a:r>
            <a:r>
              <a:rPr b="1" lang="fr" sz="1300">
                <a:solidFill>
                  <a:schemeClr val="dk1"/>
                </a:solidFill>
              </a:rPr>
              <a:t>qui a généré le Pétrole </a:t>
            </a:r>
            <a:r>
              <a:rPr b="1" lang="fr" sz="1300">
                <a:solidFill>
                  <a:schemeClr val="dk1"/>
                </a:solidFill>
              </a:rPr>
              <a:t>est DS avec 2 dates de rupture.</a:t>
            </a:r>
            <a:endParaRPr b="1" sz="1300">
              <a:solidFill>
                <a:schemeClr val="dk1"/>
              </a:solidFill>
            </a:endParaRPr>
          </a:p>
          <a:p>
            <a:pPr indent="0" lvl="0" marL="0" rtl="0" algn="l">
              <a:spcBef>
                <a:spcPts val="0"/>
              </a:spcBef>
              <a:spcAft>
                <a:spcPts val="0"/>
              </a:spcAft>
              <a:buNone/>
            </a:pPr>
            <a:r>
              <a:t/>
            </a:r>
            <a:endParaRPr sz="1300">
              <a:solidFill>
                <a:schemeClr val="dk1"/>
              </a:solidFill>
            </a:endParaRPr>
          </a:p>
        </p:txBody>
      </p:sp>
      <p:pic>
        <p:nvPicPr>
          <p:cNvPr id="287" name="Google Shape;287;p33"/>
          <p:cNvPicPr preferRelativeResize="0"/>
          <p:nvPr/>
        </p:nvPicPr>
        <p:blipFill>
          <a:blip r:embed="rId4">
            <a:alphaModFix/>
          </a:blip>
          <a:stretch>
            <a:fillRect/>
          </a:stretch>
        </p:blipFill>
        <p:spPr>
          <a:xfrm>
            <a:off x="0" y="781850"/>
            <a:ext cx="5424451" cy="43616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34"/>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293" name="Google Shape;29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294" name="Google Shape;294;p34"/>
          <p:cNvSpPr txBox="1"/>
          <p:nvPr/>
        </p:nvSpPr>
        <p:spPr>
          <a:xfrm>
            <a:off x="0" y="0"/>
            <a:ext cx="40521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5"/>
            </a:pPr>
            <a:r>
              <a:rPr b="1" lang="fr" sz="1500">
                <a:solidFill>
                  <a:schemeClr val="dk1"/>
                </a:solidFill>
              </a:rPr>
              <a:t>Test de Lee et Strazicich (test LS)</a:t>
            </a:r>
            <a:endParaRPr sz="1600"/>
          </a:p>
        </p:txBody>
      </p:sp>
      <p:sp>
        <p:nvSpPr>
          <p:cNvPr id="295" name="Google Shape;295;p34"/>
          <p:cNvSpPr txBox="1"/>
          <p:nvPr/>
        </p:nvSpPr>
        <p:spPr>
          <a:xfrm>
            <a:off x="0" y="29175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B) Avec 2 dates de rupture</a:t>
            </a:r>
            <a:endParaRPr/>
          </a:p>
        </p:txBody>
      </p:sp>
      <p:sp>
        <p:nvSpPr>
          <p:cNvPr id="296" name="Google Shape;296;p34"/>
          <p:cNvSpPr txBox="1"/>
          <p:nvPr/>
        </p:nvSpPr>
        <p:spPr>
          <a:xfrm>
            <a:off x="194525" y="907650"/>
            <a:ext cx="6558900" cy="50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300">
                <a:solidFill>
                  <a:schemeClr val="dk1"/>
                </a:solidFill>
              </a:rPr>
              <a:t>En </a:t>
            </a:r>
            <a:r>
              <a:rPr b="1" lang="fr" sz="1300">
                <a:solidFill>
                  <a:schemeClr val="dk1"/>
                </a:solidFill>
              </a:rPr>
              <a:t>2011</a:t>
            </a:r>
            <a:r>
              <a:rPr lang="fr" sz="1300">
                <a:solidFill>
                  <a:schemeClr val="dk1"/>
                </a:solidFill>
              </a:rPr>
              <a:t>, au moment de la première crise, il y a eu des événements géopolitiques majeurs, tels que le printemps arabe dans plusieurs pays du Moyen-Orient et de l'Afrique du Nord. </a:t>
            </a:r>
            <a:endParaRPr sz="1300">
              <a:solidFill>
                <a:schemeClr val="dk1"/>
              </a:solidFill>
            </a:endParaRPr>
          </a:p>
          <a:p>
            <a:pPr indent="0" lvl="0" marL="0" rtl="0" algn="l">
              <a:spcBef>
                <a:spcPts val="0"/>
              </a:spcBef>
              <a:spcAft>
                <a:spcPts val="0"/>
              </a:spcAft>
              <a:buClr>
                <a:schemeClr val="dk1"/>
              </a:buClr>
              <a:buSzPts val="1100"/>
              <a:buFont typeface="Arial"/>
              <a:buNone/>
            </a:pPr>
            <a:r>
              <a:rPr lang="fr" sz="1300">
                <a:solidFill>
                  <a:schemeClr val="dk1"/>
                </a:solidFill>
              </a:rPr>
              <a:t>De plus la plateforme pétrolière Deepwater Horizon, exploitée par la compagnie pétrolière BP, a subi une explosion entraînant un déversement massif de pétrole brut dans les eaux du golfe du Mexique</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fr" sz="1300">
                <a:solidFill>
                  <a:schemeClr val="dk1"/>
                </a:solidFill>
              </a:rPr>
              <a:t>En </a:t>
            </a:r>
            <a:r>
              <a:rPr b="1" lang="fr" sz="1300">
                <a:solidFill>
                  <a:schemeClr val="dk1"/>
                </a:solidFill>
              </a:rPr>
              <a:t>2016</a:t>
            </a:r>
            <a:r>
              <a:rPr lang="fr" sz="1300">
                <a:solidFill>
                  <a:schemeClr val="dk1"/>
                </a:solidFill>
              </a:rPr>
              <a:t>, au moment de la seconde crise, les prix du pétrole ont été fortement impactés par un excédent mondial de l'offre par rapport à la demande, ce qui a conduit à une baisse significative des prix. </a:t>
            </a:r>
            <a:endParaRPr sz="1300">
              <a:solidFill>
                <a:schemeClr val="dk1"/>
              </a:solidFill>
            </a:endParaRPr>
          </a:p>
          <a:p>
            <a:pPr indent="0" lvl="0" marL="0" rtl="0" algn="l">
              <a:spcBef>
                <a:spcPts val="0"/>
              </a:spcBef>
              <a:spcAft>
                <a:spcPts val="0"/>
              </a:spcAft>
              <a:buClr>
                <a:schemeClr val="dk1"/>
              </a:buClr>
              <a:buSzPts val="1100"/>
              <a:buFont typeface="Arial"/>
              <a:buNone/>
            </a:pPr>
            <a:r>
              <a:rPr lang="fr" sz="1300">
                <a:solidFill>
                  <a:schemeClr val="dk1"/>
                </a:solidFill>
              </a:rPr>
              <a:t>De plus il y a eu l'incendie majeur survenu dans la raffinerie de pétrole de Bangchak à Bangkok.</a:t>
            </a:r>
            <a:endParaRPr sz="13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id="301" name="Google Shape;301;p35"/>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302" name="Google Shape;302;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303" name="Google Shape;303;p35"/>
          <p:cNvSpPr txBox="1"/>
          <p:nvPr/>
        </p:nvSpPr>
        <p:spPr>
          <a:xfrm>
            <a:off x="0" y="75650"/>
            <a:ext cx="91440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2200">
                <a:solidFill>
                  <a:srgbClr val="FF0000"/>
                </a:solidFill>
                <a:latin typeface="Roboto"/>
                <a:ea typeface="Roboto"/>
                <a:cs typeface="Roboto"/>
                <a:sym typeface="Roboto"/>
              </a:rPr>
              <a:t>CONCLUSIO</a:t>
            </a:r>
            <a:r>
              <a:rPr b="1" lang="fr" sz="2100">
                <a:solidFill>
                  <a:srgbClr val="FF0000"/>
                </a:solidFill>
                <a:latin typeface="Roboto"/>
                <a:ea typeface="Roboto"/>
                <a:cs typeface="Roboto"/>
                <a:sym typeface="Roboto"/>
              </a:rPr>
              <a:t>N </a:t>
            </a:r>
            <a:r>
              <a:rPr b="1" lang="fr" sz="2100">
                <a:solidFill>
                  <a:srgbClr val="FF0000"/>
                </a:solidFill>
              </a:rPr>
              <a:t>INTERMÉDIAIRE</a:t>
            </a:r>
            <a:endParaRPr b="1" sz="2100">
              <a:solidFill>
                <a:srgbClr val="FF0000"/>
              </a:solidFill>
            </a:endParaRPr>
          </a:p>
        </p:txBody>
      </p:sp>
      <p:sp>
        <p:nvSpPr>
          <p:cNvPr id="304" name="Google Shape;304;p35"/>
          <p:cNvSpPr txBox="1"/>
          <p:nvPr/>
        </p:nvSpPr>
        <p:spPr>
          <a:xfrm>
            <a:off x="237225" y="681025"/>
            <a:ext cx="7261500" cy="437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Finalement, on en conclut que </a:t>
            </a:r>
            <a:r>
              <a:rPr b="1" lang="fr" sz="1300">
                <a:solidFill>
                  <a:schemeClr val="dk1"/>
                </a:solidFill>
              </a:rPr>
              <a:t>le PGD qui a généré le Pétrole est DS</a:t>
            </a:r>
            <a:r>
              <a:rPr lang="fr" sz="1300">
                <a:solidFill>
                  <a:schemeClr val="dk1"/>
                </a:solidFill>
              </a:rPr>
              <a:t>, car on retient la conclusion du meilleur test, qui est le test LS avec bootstrap, avec 1 date de rupture.</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fr" sz="1300">
                <a:solidFill>
                  <a:schemeClr val="dk1"/>
                </a:solidFill>
              </a:rPr>
              <a:t>Désormais nous allons différencier notre série à l’ordre 1 et nous allons à nouveau réaliser le test DF puis ADF si on détecte </a:t>
            </a:r>
            <a:r>
              <a:rPr lang="fr" sz="1300">
                <a:solidFill>
                  <a:schemeClr val="dk1"/>
                </a:solidFill>
              </a:rPr>
              <a:t>de</a:t>
            </a:r>
            <a:r>
              <a:rPr lang="fr" sz="1300">
                <a:solidFill>
                  <a:schemeClr val="dk1"/>
                </a:solidFill>
              </a:rPr>
              <a:t> l’autocorrélation, dans l’optique d’en conclure que le PGD est stationnaire.</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36"/>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310" name="Google Shape;310;p36"/>
          <p:cNvSpPr txBox="1"/>
          <p:nvPr/>
        </p:nvSpPr>
        <p:spPr>
          <a:xfrm>
            <a:off x="0" y="0"/>
            <a:ext cx="4357200" cy="646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5"/>
            </a:pPr>
            <a:r>
              <a:rPr b="1" lang="fr" sz="1500">
                <a:solidFill>
                  <a:schemeClr val="dk1"/>
                </a:solidFill>
              </a:rPr>
              <a:t>Différenciation à l’ordre 1 de la série</a:t>
            </a:r>
            <a:endParaRPr>
              <a:solidFill>
                <a:schemeClr val="dk1"/>
              </a:solidFill>
            </a:endParaRPr>
          </a:p>
          <a:p>
            <a:pPr indent="0" lvl="0" marL="0" rtl="0" algn="l">
              <a:spcBef>
                <a:spcPts val="0"/>
              </a:spcBef>
              <a:spcAft>
                <a:spcPts val="0"/>
              </a:spcAft>
              <a:buNone/>
            </a:pPr>
            <a:r>
              <a:t/>
            </a:r>
            <a:endParaRPr b="1" sz="1500">
              <a:solidFill>
                <a:schemeClr val="dk1"/>
              </a:solidFill>
            </a:endParaRPr>
          </a:p>
        </p:txBody>
      </p:sp>
      <p:sp>
        <p:nvSpPr>
          <p:cNvPr id="311" name="Google Shape;311;p36"/>
          <p:cNvSpPr txBox="1"/>
          <p:nvPr/>
        </p:nvSpPr>
        <p:spPr>
          <a:xfrm>
            <a:off x="0" y="33500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fr" sz="1500">
                <a:solidFill>
                  <a:schemeClr val="dk1"/>
                </a:solidFill>
              </a:rPr>
              <a:t>A) Test DF (Trend)</a:t>
            </a:r>
            <a:endParaRPr/>
          </a:p>
        </p:txBody>
      </p:sp>
      <p:sp>
        <p:nvSpPr>
          <p:cNvPr id="312" name="Google Shape;312;p36"/>
          <p:cNvSpPr txBox="1"/>
          <p:nvPr/>
        </p:nvSpPr>
        <p:spPr>
          <a:xfrm>
            <a:off x="162075" y="830950"/>
            <a:ext cx="4203300" cy="3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Avant différenciation on estimait par MCO</a:t>
            </a:r>
            <a:r>
              <a:rPr lang="fr" sz="1300">
                <a:solidFill>
                  <a:schemeClr val="dk1"/>
                </a:solidFill>
              </a:rPr>
              <a:t>:</a:t>
            </a:r>
            <a:endParaRPr sz="1300">
              <a:solidFill>
                <a:schemeClr val="dk1"/>
              </a:solidFill>
            </a:endParaRPr>
          </a:p>
        </p:txBody>
      </p:sp>
      <p:pic>
        <p:nvPicPr>
          <p:cNvPr id="313" name="Google Shape;313;p36"/>
          <p:cNvPicPr preferRelativeResize="0"/>
          <p:nvPr/>
        </p:nvPicPr>
        <p:blipFill>
          <a:blip r:embed="rId4">
            <a:alphaModFix/>
          </a:blip>
          <a:stretch>
            <a:fillRect/>
          </a:stretch>
        </p:blipFill>
        <p:spPr>
          <a:xfrm>
            <a:off x="209300" y="1155250"/>
            <a:ext cx="4203300" cy="541250"/>
          </a:xfrm>
          <a:prstGeom prst="rect">
            <a:avLst/>
          </a:prstGeom>
          <a:noFill/>
          <a:ln>
            <a:noFill/>
          </a:ln>
        </p:spPr>
      </p:pic>
      <p:sp>
        <p:nvSpPr>
          <p:cNvPr id="314" name="Google Shape;314;p36"/>
          <p:cNvSpPr txBox="1"/>
          <p:nvPr/>
        </p:nvSpPr>
        <p:spPr>
          <a:xfrm>
            <a:off x="209300" y="1793750"/>
            <a:ext cx="4285800" cy="346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Désormais </a:t>
            </a:r>
            <a:r>
              <a:rPr b="1" lang="fr" sz="1300">
                <a:solidFill>
                  <a:schemeClr val="dk1"/>
                </a:solidFill>
              </a:rPr>
              <a:t>on remplace “Petrole” par “dPetrole”</a:t>
            </a:r>
            <a:r>
              <a:rPr lang="fr" sz="1300">
                <a:solidFill>
                  <a:schemeClr val="dk1"/>
                </a:solidFill>
              </a:rPr>
              <a:t> dans l’équation.</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s’intéresse d’abord au coefficient B1 ce qui est associé à la variable tt.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voit que pvalue(B1) = 0,498 &gt; 0,005 donc B1 n’est pas significatif.</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Donc on accepte l’hypothèse H0: B1=0</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et on rejette l’hypothèse alternative Ha: B1≠0.</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Désormais on passe à l’étape suivante du test: Drift.</a:t>
            </a:r>
            <a:endParaRPr sz="13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315" name="Google Shape;31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316" name="Google Shape;316;p36"/>
          <p:cNvPicPr preferRelativeResize="0"/>
          <p:nvPr/>
        </p:nvPicPr>
        <p:blipFill>
          <a:blip r:embed="rId5">
            <a:alphaModFix/>
          </a:blip>
          <a:stretch>
            <a:fillRect/>
          </a:stretch>
        </p:blipFill>
        <p:spPr>
          <a:xfrm>
            <a:off x="4646450" y="231025"/>
            <a:ext cx="4497549" cy="450183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p37"/>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322" name="Google Shape;322;p37"/>
          <p:cNvSpPr txBox="1"/>
          <p:nvPr/>
        </p:nvSpPr>
        <p:spPr>
          <a:xfrm>
            <a:off x="0" y="0"/>
            <a:ext cx="44112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5"/>
            </a:pPr>
            <a:r>
              <a:rPr b="1" lang="fr" sz="1500">
                <a:solidFill>
                  <a:schemeClr val="dk1"/>
                </a:solidFill>
              </a:rPr>
              <a:t>Différenciation à l’ordre 1 de la série</a:t>
            </a:r>
            <a:endParaRPr/>
          </a:p>
        </p:txBody>
      </p:sp>
      <p:sp>
        <p:nvSpPr>
          <p:cNvPr id="323" name="Google Shape;323;p37"/>
          <p:cNvSpPr txBox="1"/>
          <p:nvPr/>
        </p:nvSpPr>
        <p:spPr>
          <a:xfrm>
            <a:off x="0" y="33500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Clr>
                <a:schemeClr val="dk1"/>
              </a:buClr>
              <a:buSzPts val="1100"/>
              <a:buFont typeface="Arial"/>
              <a:buNone/>
            </a:pPr>
            <a:r>
              <a:rPr lang="fr" sz="1500">
                <a:solidFill>
                  <a:schemeClr val="dk1"/>
                </a:solidFill>
              </a:rPr>
              <a:t>A</a:t>
            </a:r>
            <a:r>
              <a:rPr lang="fr" sz="1500">
                <a:solidFill>
                  <a:schemeClr val="dk1"/>
                </a:solidFill>
              </a:rPr>
              <a:t>) Test DF (Drift)</a:t>
            </a:r>
            <a:endParaRPr/>
          </a:p>
        </p:txBody>
      </p:sp>
      <p:sp>
        <p:nvSpPr>
          <p:cNvPr id="324" name="Google Shape;324;p37"/>
          <p:cNvSpPr txBox="1"/>
          <p:nvPr/>
        </p:nvSpPr>
        <p:spPr>
          <a:xfrm>
            <a:off x="237725" y="842850"/>
            <a:ext cx="39441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Avant différenciation on estimait par les MCO</a:t>
            </a:r>
            <a:r>
              <a:rPr lang="fr" sz="1300">
                <a:solidFill>
                  <a:schemeClr val="dk1"/>
                </a:solidFill>
              </a:rPr>
              <a:t>:</a:t>
            </a:r>
            <a:endParaRPr sz="1300">
              <a:solidFill>
                <a:schemeClr val="dk1"/>
              </a:solidFill>
            </a:endParaRPr>
          </a:p>
        </p:txBody>
      </p:sp>
      <p:pic>
        <p:nvPicPr>
          <p:cNvPr id="325" name="Google Shape;325;p37"/>
          <p:cNvPicPr preferRelativeResize="0"/>
          <p:nvPr/>
        </p:nvPicPr>
        <p:blipFill>
          <a:blip r:embed="rId4">
            <a:alphaModFix/>
          </a:blip>
          <a:stretch>
            <a:fillRect/>
          </a:stretch>
        </p:blipFill>
        <p:spPr>
          <a:xfrm>
            <a:off x="237725" y="1258350"/>
            <a:ext cx="3727951" cy="550725"/>
          </a:xfrm>
          <a:prstGeom prst="rect">
            <a:avLst/>
          </a:prstGeom>
          <a:noFill/>
          <a:ln>
            <a:noFill/>
          </a:ln>
        </p:spPr>
      </p:pic>
      <p:sp>
        <p:nvSpPr>
          <p:cNvPr id="326" name="Google Shape;326;p37"/>
          <p:cNvSpPr txBox="1"/>
          <p:nvPr/>
        </p:nvSpPr>
        <p:spPr>
          <a:xfrm>
            <a:off x="237725" y="2063875"/>
            <a:ext cx="4203300" cy="293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Désormais on remplace “Petrole” par “dPetrole” dans l’équation.</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s’intéresse désormais au coefficient B0, ce qui est associé à la variable intercept.</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voit que pvalue(B0) = 0,137 &gt; 0,005 donc B0 n’est pas significatif.</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Donc on accepte l’hypothèse nulle H0: B0=0 et on rejette l’hypothèse alternative Ha: B0≠0.</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Désormais, on passe à l’étape suivante du test: None.</a:t>
            </a:r>
            <a:endParaRPr sz="13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327" name="Google Shape;32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328" name="Google Shape;328;p37"/>
          <p:cNvPicPr preferRelativeResize="0"/>
          <p:nvPr/>
        </p:nvPicPr>
        <p:blipFill>
          <a:blip r:embed="rId5">
            <a:alphaModFix/>
          </a:blip>
          <a:stretch>
            <a:fillRect/>
          </a:stretch>
        </p:blipFill>
        <p:spPr>
          <a:xfrm>
            <a:off x="4441025" y="216124"/>
            <a:ext cx="4702974" cy="44826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id="333" name="Google Shape;333;p38"/>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334" name="Google Shape;334;p38"/>
          <p:cNvSpPr txBox="1"/>
          <p:nvPr/>
        </p:nvSpPr>
        <p:spPr>
          <a:xfrm>
            <a:off x="0" y="0"/>
            <a:ext cx="44304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5"/>
            </a:pPr>
            <a:r>
              <a:rPr b="1" lang="fr" sz="1500">
                <a:solidFill>
                  <a:schemeClr val="dk1"/>
                </a:solidFill>
              </a:rPr>
              <a:t>Différenciation à l’ordre 1 de la série</a:t>
            </a:r>
            <a:endParaRPr/>
          </a:p>
        </p:txBody>
      </p:sp>
      <p:sp>
        <p:nvSpPr>
          <p:cNvPr id="335" name="Google Shape;335;p38"/>
          <p:cNvSpPr txBox="1"/>
          <p:nvPr/>
        </p:nvSpPr>
        <p:spPr>
          <a:xfrm>
            <a:off x="0" y="33500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Clr>
                <a:schemeClr val="dk1"/>
              </a:buClr>
              <a:buSzPts val="1100"/>
              <a:buFont typeface="Arial"/>
              <a:buNone/>
            </a:pPr>
            <a:r>
              <a:rPr lang="fr" sz="1500">
                <a:solidFill>
                  <a:schemeClr val="dk1"/>
                </a:solidFill>
              </a:rPr>
              <a:t>A</a:t>
            </a:r>
            <a:r>
              <a:rPr lang="fr" sz="1500">
                <a:solidFill>
                  <a:schemeClr val="dk1"/>
                </a:solidFill>
              </a:rPr>
              <a:t>) Test DF (None)</a:t>
            </a:r>
            <a:endParaRPr/>
          </a:p>
        </p:txBody>
      </p:sp>
      <p:sp>
        <p:nvSpPr>
          <p:cNvPr id="336" name="Google Shape;336;p38"/>
          <p:cNvSpPr txBox="1"/>
          <p:nvPr/>
        </p:nvSpPr>
        <p:spPr>
          <a:xfrm>
            <a:off x="302550" y="950900"/>
            <a:ext cx="36306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Avant différenciation on estimait par les MCO</a:t>
            </a:r>
            <a:r>
              <a:rPr lang="fr" sz="1300">
                <a:solidFill>
                  <a:schemeClr val="dk1"/>
                </a:solidFill>
              </a:rPr>
              <a:t>:</a:t>
            </a:r>
            <a:endParaRPr sz="1300">
              <a:solidFill>
                <a:schemeClr val="dk1"/>
              </a:solidFill>
            </a:endParaRPr>
          </a:p>
        </p:txBody>
      </p:sp>
      <p:pic>
        <p:nvPicPr>
          <p:cNvPr id="337" name="Google Shape;337;p38"/>
          <p:cNvPicPr preferRelativeResize="0"/>
          <p:nvPr/>
        </p:nvPicPr>
        <p:blipFill>
          <a:blip r:embed="rId4">
            <a:alphaModFix/>
          </a:blip>
          <a:stretch>
            <a:fillRect/>
          </a:stretch>
        </p:blipFill>
        <p:spPr>
          <a:xfrm>
            <a:off x="369925" y="1366400"/>
            <a:ext cx="3055475" cy="632600"/>
          </a:xfrm>
          <a:prstGeom prst="rect">
            <a:avLst/>
          </a:prstGeom>
          <a:noFill/>
          <a:ln>
            <a:noFill/>
          </a:ln>
        </p:spPr>
      </p:pic>
      <p:sp>
        <p:nvSpPr>
          <p:cNvPr id="338" name="Google Shape;338;p38"/>
          <p:cNvSpPr txBox="1"/>
          <p:nvPr/>
        </p:nvSpPr>
        <p:spPr>
          <a:xfrm>
            <a:off x="369925" y="1945575"/>
            <a:ext cx="3976500" cy="377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Désormais on remplace “Petrole” par “dPetrole” dans l’équation.</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voit que t_calculé = - 4,8669 &lt; valeur_critique_5% = -1,95.</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De ce fait on </a:t>
            </a:r>
            <a:r>
              <a:rPr lang="fr" sz="1300">
                <a:solidFill>
                  <a:schemeClr val="dk1"/>
                </a:solidFill>
              </a:rPr>
              <a:t>rejette</a:t>
            </a:r>
            <a:r>
              <a:rPr lang="fr" sz="1300">
                <a:solidFill>
                  <a:schemeClr val="dk1"/>
                </a:solidFill>
              </a:rPr>
              <a:t> l’hypothèse nulle H0: p=1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et on accepte l’hypothèse alternative Ha: |p|&lt;1.</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Donc </a:t>
            </a:r>
            <a:r>
              <a:rPr b="1" lang="fr" sz="1300">
                <a:solidFill>
                  <a:schemeClr val="dk1"/>
                </a:solidFill>
              </a:rPr>
              <a:t>le PGD </a:t>
            </a:r>
            <a:r>
              <a:rPr b="1" lang="fr" sz="1300">
                <a:solidFill>
                  <a:schemeClr val="dk1"/>
                </a:solidFill>
              </a:rPr>
              <a:t>qui a généré le Pétrole différencié à l’ordre 1 </a:t>
            </a:r>
            <a:r>
              <a:rPr b="1" lang="fr" sz="1300">
                <a:solidFill>
                  <a:schemeClr val="dk1"/>
                </a:solidFill>
              </a:rPr>
              <a:t>est stationnaire</a:t>
            </a:r>
            <a:r>
              <a:rPr lang="fr" sz="1300">
                <a:solidFill>
                  <a:schemeClr val="dk1"/>
                </a:solidFill>
              </a:rPr>
              <a:t>.</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sait que: p=1</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De plus selon la PACF on a de l’autocorrélation à l’ordre 3 donc on doit passer au test ADF.</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339" name="Google Shape;339;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340" name="Google Shape;340;p38"/>
          <p:cNvPicPr preferRelativeResize="0"/>
          <p:nvPr/>
        </p:nvPicPr>
        <p:blipFill>
          <a:blip r:embed="rId5">
            <a:alphaModFix/>
          </a:blip>
          <a:stretch>
            <a:fillRect/>
          </a:stretch>
        </p:blipFill>
        <p:spPr>
          <a:xfrm>
            <a:off x="4572000" y="0"/>
            <a:ext cx="4572000" cy="2366449"/>
          </a:xfrm>
          <a:prstGeom prst="rect">
            <a:avLst/>
          </a:prstGeom>
          <a:noFill/>
          <a:ln>
            <a:noFill/>
          </a:ln>
        </p:spPr>
      </p:pic>
      <p:pic>
        <p:nvPicPr>
          <p:cNvPr id="341" name="Google Shape;341;p38"/>
          <p:cNvPicPr preferRelativeResize="0"/>
          <p:nvPr/>
        </p:nvPicPr>
        <p:blipFill>
          <a:blip r:embed="rId6">
            <a:alphaModFix/>
          </a:blip>
          <a:stretch>
            <a:fillRect/>
          </a:stretch>
        </p:blipFill>
        <p:spPr>
          <a:xfrm>
            <a:off x="4572000" y="2366450"/>
            <a:ext cx="4572000" cy="23472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39"/>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347" name="Google Shape;347;p39"/>
          <p:cNvSpPr txBox="1"/>
          <p:nvPr/>
        </p:nvSpPr>
        <p:spPr>
          <a:xfrm>
            <a:off x="0" y="0"/>
            <a:ext cx="44736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AutoNum type="arabicParenR" startAt="3"/>
            </a:pPr>
            <a:r>
              <a:rPr b="1" lang="fr" sz="1500">
                <a:solidFill>
                  <a:schemeClr val="dk1"/>
                </a:solidFill>
              </a:rPr>
              <a:t>Différenciation à l’ordre 1 de la série</a:t>
            </a:r>
            <a:endParaRPr/>
          </a:p>
        </p:txBody>
      </p:sp>
      <p:sp>
        <p:nvSpPr>
          <p:cNvPr id="348" name="Google Shape;348;p39"/>
          <p:cNvSpPr txBox="1"/>
          <p:nvPr/>
        </p:nvSpPr>
        <p:spPr>
          <a:xfrm>
            <a:off x="75650" y="307450"/>
            <a:ext cx="30000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Clr>
                <a:schemeClr val="dk1"/>
              </a:buClr>
              <a:buSzPts val="1100"/>
              <a:buFont typeface="Arial"/>
              <a:buNone/>
            </a:pPr>
            <a:r>
              <a:rPr lang="fr" sz="1500">
                <a:solidFill>
                  <a:schemeClr val="dk1"/>
                </a:solidFill>
              </a:rPr>
              <a:t>B</a:t>
            </a:r>
            <a:r>
              <a:rPr lang="fr" sz="1500">
                <a:solidFill>
                  <a:schemeClr val="dk1"/>
                </a:solidFill>
              </a:rPr>
              <a:t>) Test ADF (None)</a:t>
            </a:r>
            <a:endParaRPr/>
          </a:p>
        </p:txBody>
      </p:sp>
      <p:pic>
        <p:nvPicPr>
          <p:cNvPr id="349" name="Google Shape;349;p39"/>
          <p:cNvPicPr preferRelativeResize="0"/>
          <p:nvPr/>
        </p:nvPicPr>
        <p:blipFill>
          <a:blip r:embed="rId4">
            <a:alphaModFix/>
          </a:blip>
          <a:stretch>
            <a:fillRect/>
          </a:stretch>
        </p:blipFill>
        <p:spPr>
          <a:xfrm>
            <a:off x="4408725" y="1144445"/>
            <a:ext cx="4197250" cy="606775"/>
          </a:xfrm>
          <a:prstGeom prst="rect">
            <a:avLst/>
          </a:prstGeom>
          <a:noFill/>
          <a:ln>
            <a:noFill/>
          </a:ln>
        </p:spPr>
      </p:pic>
      <p:sp>
        <p:nvSpPr>
          <p:cNvPr id="350" name="Google Shape;350;p39"/>
          <p:cNvSpPr txBox="1"/>
          <p:nvPr/>
        </p:nvSpPr>
        <p:spPr>
          <a:xfrm>
            <a:off x="4311475" y="722950"/>
            <a:ext cx="3587400" cy="42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On estimait avant différenciation par MCO:</a:t>
            </a:r>
            <a:endParaRPr sz="1300">
              <a:solidFill>
                <a:schemeClr val="dk1"/>
              </a:solidFill>
            </a:endParaRPr>
          </a:p>
        </p:txBody>
      </p:sp>
      <p:sp>
        <p:nvSpPr>
          <p:cNvPr id="351" name="Google Shape;351;p39"/>
          <p:cNvSpPr txBox="1"/>
          <p:nvPr/>
        </p:nvSpPr>
        <p:spPr>
          <a:xfrm>
            <a:off x="4408725" y="1993175"/>
            <a:ext cx="4300800" cy="306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Désormais on </a:t>
            </a:r>
            <a:r>
              <a:rPr b="1" lang="fr" sz="1300">
                <a:solidFill>
                  <a:schemeClr val="dk1"/>
                </a:solidFill>
              </a:rPr>
              <a:t>remplace “Petrole” par “dPetrole” dans l’équation</a:t>
            </a:r>
            <a:r>
              <a:rPr lang="fr" sz="1300">
                <a:solidFill>
                  <a:schemeClr val="dk1"/>
                </a:solidFill>
              </a:rPr>
              <a:t>.</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On prend la première valeur pour t_calculé et on observe que t_calculé = -0,8148 &gt; v_critique_5% = -1,95.</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Donc on accepte H0: p=1 et on rejette Ha: |p|&lt;1.</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fr" sz="1300">
                <a:solidFill>
                  <a:schemeClr val="dk1"/>
                </a:solidFill>
              </a:rPr>
              <a:t>Ainsi on en conclut que </a:t>
            </a:r>
            <a:r>
              <a:rPr b="1" lang="fr" sz="1300">
                <a:solidFill>
                  <a:schemeClr val="dk1"/>
                </a:solidFill>
              </a:rPr>
              <a:t>le PGD </a:t>
            </a:r>
            <a:r>
              <a:rPr b="1" lang="fr" sz="1300">
                <a:solidFill>
                  <a:schemeClr val="dk1"/>
                </a:solidFill>
              </a:rPr>
              <a:t>qui a généré le Pétrole différencié à l’ordre 1 </a:t>
            </a:r>
            <a:r>
              <a:rPr b="1" lang="fr" sz="1300">
                <a:solidFill>
                  <a:schemeClr val="dk1"/>
                </a:solidFill>
              </a:rPr>
              <a:t>est DS.</a:t>
            </a:r>
            <a:endParaRPr b="1"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fr" sz="1300">
                <a:solidFill>
                  <a:schemeClr val="dk1"/>
                </a:solidFill>
              </a:rPr>
              <a:t>CEPENDANT ce n’est pas le bon test car avec Drift, on voit que pvalue (zlag1)= 0,603 &gt; 0,05.</a:t>
            </a:r>
            <a:endParaRPr sz="1800">
              <a:solidFill>
                <a:schemeClr val="dk2"/>
              </a:solidFill>
            </a:endParaRPr>
          </a:p>
        </p:txBody>
      </p:sp>
      <p:sp>
        <p:nvSpPr>
          <p:cNvPr id="352" name="Google Shape;352;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353" name="Google Shape;353;p39"/>
          <p:cNvPicPr preferRelativeResize="0"/>
          <p:nvPr/>
        </p:nvPicPr>
        <p:blipFill>
          <a:blip r:embed="rId5">
            <a:alphaModFix/>
          </a:blip>
          <a:stretch>
            <a:fillRect/>
          </a:stretch>
        </p:blipFill>
        <p:spPr>
          <a:xfrm>
            <a:off x="0" y="810425"/>
            <a:ext cx="4197251" cy="439792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40"/>
          <p:cNvPicPr preferRelativeResize="0"/>
          <p:nvPr/>
        </p:nvPicPr>
        <p:blipFill>
          <a:blip r:embed="rId3">
            <a:alphaModFix amt="27000"/>
          </a:blip>
          <a:stretch>
            <a:fillRect/>
          </a:stretch>
        </p:blipFill>
        <p:spPr>
          <a:xfrm>
            <a:off x="0" y="457"/>
            <a:ext cx="9144000" cy="5142586"/>
          </a:xfrm>
          <a:prstGeom prst="rect">
            <a:avLst/>
          </a:prstGeom>
          <a:noFill/>
          <a:ln>
            <a:noFill/>
          </a:ln>
        </p:spPr>
      </p:pic>
      <p:sp>
        <p:nvSpPr>
          <p:cNvPr id="359" name="Google Shape;359;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360" name="Google Shape;360;p40"/>
          <p:cNvSpPr txBox="1"/>
          <p:nvPr/>
        </p:nvSpPr>
        <p:spPr>
          <a:xfrm>
            <a:off x="0" y="75650"/>
            <a:ext cx="91440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2200">
                <a:solidFill>
                  <a:srgbClr val="FF0000"/>
                </a:solidFill>
                <a:latin typeface="Roboto"/>
                <a:ea typeface="Roboto"/>
                <a:cs typeface="Roboto"/>
                <a:sym typeface="Roboto"/>
              </a:rPr>
              <a:t>CONCLUSIO</a:t>
            </a:r>
            <a:r>
              <a:rPr b="1" lang="fr" sz="2100">
                <a:solidFill>
                  <a:srgbClr val="FF0000"/>
                </a:solidFill>
                <a:latin typeface="Roboto"/>
                <a:ea typeface="Roboto"/>
                <a:cs typeface="Roboto"/>
                <a:sym typeface="Roboto"/>
              </a:rPr>
              <a:t>N</a:t>
            </a:r>
            <a:endParaRPr b="1" sz="2100">
              <a:solidFill>
                <a:srgbClr val="FF0000"/>
              </a:solidFill>
            </a:endParaRPr>
          </a:p>
        </p:txBody>
      </p:sp>
      <p:sp>
        <p:nvSpPr>
          <p:cNvPr id="361" name="Google Shape;361;p40"/>
          <p:cNvSpPr txBox="1"/>
          <p:nvPr/>
        </p:nvSpPr>
        <p:spPr>
          <a:xfrm>
            <a:off x="280975" y="681025"/>
            <a:ext cx="7261500" cy="437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rPr>
              <a:t>Finalement, après différentiation à l’ordre 1 de la série “Pétrole”, on en conclut que </a:t>
            </a:r>
            <a:r>
              <a:rPr b="1" lang="fr" sz="1300">
                <a:solidFill>
                  <a:schemeClr val="dk1"/>
                </a:solidFill>
              </a:rPr>
              <a:t>le PGD qui a généré la série différenciée à l’ordre 1 du Pétrole est</a:t>
            </a:r>
            <a:r>
              <a:rPr b="1" lang="fr" sz="1300">
                <a:solidFill>
                  <a:schemeClr val="dk1"/>
                </a:solidFill>
              </a:rPr>
              <a:t> stationnaire,</a:t>
            </a:r>
            <a:r>
              <a:rPr lang="fr" sz="1300">
                <a:solidFill>
                  <a:schemeClr val="dk1"/>
                </a:solidFill>
              </a:rPr>
              <a:t> c</a:t>
            </a:r>
            <a:r>
              <a:rPr lang="fr" sz="1300">
                <a:solidFill>
                  <a:schemeClr val="dk1"/>
                </a:solidFill>
              </a:rPr>
              <a:t>ar </a:t>
            </a:r>
            <a:r>
              <a:rPr lang="fr" sz="1300">
                <a:solidFill>
                  <a:schemeClr val="dk1"/>
                </a:solidFill>
              </a:rPr>
              <a:t>on retient la conclusion du test DF</a:t>
            </a:r>
            <a:r>
              <a:rPr lang="fr" sz="1300">
                <a:solidFill>
                  <a:schemeClr val="dk1"/>
                </a:solidFill>
              </a:rPr>
              <a:t>,</a:t>
            </a:r>
            <a:r>
              <a:rPr lang="fr" sz="1300">
                <a:solidFill>
                  <a:schemeClr val="dk1"/>
                </a:solidFill>
              </a:rPr>
              <a:t> car le test ADF n’est pas le bon test.</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